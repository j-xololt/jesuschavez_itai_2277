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handoutMasterIdLst>
    <p:handoutMasterId r:id="rId19"/>
  </p:handoutMasterIdLst>
  <p:sldIdLst>
    <p:sldId id="256" r:id="rId5"/>
    <p:sldId id="3849" r:id="rId6"/>
    <p:sldId id="261" r:id="rId7"/>
    <p:sldId id="3852" r:id="rId8"/>
    <p:sldId id="3853" r:id="rId9"/>
    <p:sldId id="3850" r:id="rId10"/>
    <p:sldId id="3854" r:id="rId11"/>
    <p:sldId id="3851" r:id="rId12"/>
    <p:sldId id="265" r:id="rId13"/>
    <p:sldId id="3855" r:id="rId14"/>
    <p:sldId id="263" r:id="rId15"/>
    <p:sldId id="3856" r:id="rId16"/>
    <p:sldId id="384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730B3B-26DE-3536-9099-8976FEE78A6B}" v="1730" dt="2026-01-29T00:32:31.195"/>
    <p1510:client id="{766470AB-0966-11B8-30FD-814052AEFAFA}" v="324" dt="2026-01-28T06:49:33.347"/>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1/28/2026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t>‹#›</a:t>
            </a:fld>
            <a:endParaRPr lang="en-US"/>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1</a:t>
            </a:fld>
            <a:endParaRPr lang="en-US"/>
          </a:p>
        </p:txBody>
      </p:sp>
    </p:spTree>
    <p:extLst>
      <p:ext uri="{BB962C8B-B14F-4D97-AF65-F5344CB8AC3E}">
        <p14:creationId xmlns:p14="http://schemas.microsoft.com/office/powerpoint/2010/main" val="23882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2</a:t>
            </a:fld>
            <a:endParaRPr lang="en-US"/>
          </a:p>
        </p:txBody>
      </p:sp>
    </p:spTree>
    <p:extLst>
      <p:ext uri="{BB962C8B-B14F-4D97-AF65-F5344CB8AC3E}">
        <p14:creationId xmlns:p14="http://schemas.microsoft.com/office/powerpoint/2010/main" val="1951919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3</a:t>
            </a:fld>
            <a:endParaRPr lang="en-US"/>
          </a:p>
        </p:txBody>
      </p:sp>
    </p:spTree>
    <p:extLst>
      <p:ext uri="{BB962C8B-B14F-4D97-AF65-F5344CB8AC3E}">
        <p14:creationId xmlns:p14="http://schemas.microsoft.com/office/powerpoint/2010/main" val="202840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6</a:t>
            </a:fld>
            <a:endParaRPr lang="en-US"/>
          </a:p>
        </p:txBody>
      </p:sp>
    </p:spTree>
    <p:extLst>
      <p:ext uri="{BB962C8B-B14F-4D97-AF65-F5344CB8AC3E}">
        <p14:creationId xmlns:p14="http://schemas.microsoft.com/office/powerpoint/2010/main" val="3522538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8</a:t>
            </a:fld>
            <a:endParaRPr lang="en-US"/>
          </a:p>
        </p:txBody>
      </p:sp>
    </p:spTree>
    <p:extLst>
      <p:ext uri="{BB962C8B-B14F-4D97-AF65-F5344CB8AC3E}">
        <p14:creationId xmlns:p14="http://schemas.microsoft.com/office/powerpoint/2010/main" val="922949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9</a:t>
            </a:fld>
            <a:endParaRPr lang="en-US"/>
          </a:p>
        </p:txBody>
      </p:sp>
    </p:spTree>
    <p:extLst>
      <p:ext uri="{BB962C8B-B14F-4D97-AF65-F5344CB8AC3E}">
        <p14:creationId xmlns:p14="http://schemas.microsoft.com/office/powerpoint/2010/main" val="1721109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11</a:t>
            </a:fld>
            <a:endParaRPr lang="en-US"/>
          </a:p>
        </p:txBody>
      </p:sp>
    </p:spTree>
    <p:extLst>
      <p:ext uri="{BB962C8B-B14F-4D97-AF65-F5344CB8AC3E}">
        <p14:creationId xmlns:p14="http://schemas.microsoft.com/office/powerpoint/2010/main" val="2540028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13</a:t>
            </a:fld>
            <a:endParaRPr lang="en-US"/>
          </a:p>
        </p:txBody>
      </p:sp>
    </p:spTree>
    <p:extLst>
      <p:ext uri="{BB962C8B-B14F-4D97-AF65-F5344CB8AC3E}">
        <p14:creationId xmlns:p14="http://schemas.microsoft.com/office/powerpoint/2010/main" val="4151229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429764-E305-A48D-5244-9BCD20902244}"/>
              </a:ext>
              <a:ext uri="{C183D7F6-B498-43B3-948B-1728B52AA6E4}">
                <adec:decorative xmlns:adec="http://schemas.microsoft.com/office/drawing/2017/decorative" val="1"/>
              </a:ext>
            </a:extLst>
          </p:cNvPr>
          <p:cNvGrpSpPr/>
          <p:nvPr userDrawn="1"/>
        </p:nvGrpSpPr>
        <p:grpSpPr>
          <a:xfrm>
            <a:off x="0" y="0"/>
            <a:ext cx="12192000" cy="8286859"/>
            <a:chOff x="0" y="1"/>
            <a:chExt cx="12192000" cy="8286859"/>
          </a:xfrm>
        </p:grpSpPr>
        <p:sp>
          <p:nvSpPr>
            <p:cNvPr id="7" name="Freeform 13">
              <a:extLst>
                <a:ext uri="{FF2B5EF4-FFF2-40B4-BE49-F238E27FC236}">
                  <a16:creationId xmlns:a16="http://schemas.microsoft.com/office/drawing/2014/main" id="{45F65CE3-2411-E8E5-B72E-F5CBEC4DDC55}"/>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B6B51B3-AA6C-9C5E-7032-5AEA05D45908}"/>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 name="Freeform: Shape 13">
              <a:extLst>
                <a:ext uri="{FF2B5EF4-FFF2-40B4-BE49-F238E27FC236}">
                  <a16:creationId xmlns:a16="http://schemas.microsoft.com/office/drawing/2014/main" id="{4F28561D-5B3C-F08A-F7B5-48E6B74EAEBD}"/>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Shape 15">
              <a:extLst>
                <a:ext uri="{FF2B5EF4-FFF2-40B4-BE49-F238E27FC236}">
                  <a16:creationId xmlns:a16="http://schemas.microsoft.com/office/drawing/2014/main" id="{7BD7FF70-44B7-E753-26CD-E228B56C2517}"/>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DF9EE857-93B9-ACF6-2AB4-2A29C4B94776}"/>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Freeform: Shape 19">
              <a:extLst>
                <a:ext uri="{FF2B5EF4-FFF2-40B4-BE49-F238E27FC236}">
                  <a16:creationId xmlns:a16="http://schemas.microsoft.com/office/drawing/2014/main" id="{75030D84-5EEB-A095-3D43-0ED22BDB8406}"/>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6E6DE3E-6851-19AD-2E60-22F006238173}"/>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5184474" y="2949739"/>
            <a:ext cx="6261291" cy="2396686"/>
          </a:xfrm>
        </p:spPr>
        <p:txBody>
          <a:bodyPr anchor="b" anchorCtr="0">
            <a:noAutofit/>
          </a:bodyPr>
          <a:lstStyle>
            <a:lvl1pPr algn="r">
              <a:defRPr sz="4400">
                <a:solidFill>
                  <a:schemeClr val="bg1"/>
                </a:solidFill>
              </a:defRPr>
            </a:lvl1pPr>
          </a:lstStyle>
          <a:p>
            <a:r>
              <a:rPr lang="en-US"/>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E96D25F-53A2-6217-84B4-7EB874F0B372}"/>
              </a:ext>
              <a:ext uri="{C183D7F6-B498-43B3-948B-1728B52AA6E4}">
                <adec:decorative xmlns:adec="http://schemas.microsoft.com/office/drawing/2017/decorative" val="1"/>
              </a:ext>
            </a:extLst>
          </p:cNvPr>
          <p:cNvGrpSpPr/>
          <p:nvPr userDrawn="1"/>
        </p:nvGrpSpPr>
        <p:grpSpPr>
          <a:xfrm>
            <a:off x="489189" y="941148"/>
            <a:ext cx="11182430" cy="4797821"/>
            <a:chOff x="489189" y="941148"/>
            <a:chExt cx="11182430" cy="4797821"/>
          </a:xfrm>
        </p:grpSpPr>
        <p:sp>
          <p:nvSpPr>
            <p:cNvPr id="8" name="Oval 7">
              <a:extLst>
                <a:ext uri="{FF2B5EF4-FFF2-40B4-BE49-F238E27FC236}">
                  <a16:creationId xmlns:a16="http://schemas.microsoft.com/office/drawing/2014/main" id="{A50FA62D-C8AE-52B8-1712-6116756D1A83}"/>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1D2D6A01-57CF-3C0B-968C-E5A8FD352320}"/>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10BEFAA-C349-7DB1-1827-0FA48A430AD8}"/>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09957" y="1119031"/>
            <a:ext cx="4384736" cy="4619938"/>
          </a:xfrm>
        </p:spPr>
        <p:txBody>
          <a:bodyPr>
            <a:noAutofit/>
          </a:bodyPr>
          <a:lstStyle>
            <a:lvl1pPr algn="ctr">
              <a:defRPr>
                <a:solidFill>
                  <a:schemeClr val="bg1"/>
                </a:solidFill>
              </a:defRPr>
            </a:lvl1pPr>
          </a:lstStyle>
          <a:p>
            <a:r>
              <a:rPr lang="en-US"/>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801708" y="554942"/>
            <a:ext cx="5552091" cy="5768220"/>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EF93C3C-09E9-6CD0-EF4B-6DE09539EE7A}"/>
              </a:ext>
            </a:extLst>
          </p:cNvPr>
          <p:cNvSpPr>
            <a:spLocks noGrp="1"/>
          </p:cNvSpPr>
          <p:nvPr>
            <p:ph type="pic" sz="quarter" idx="10" hasCustomPrompt="1"/>
          </p:nvPr>
        </p:nvSpPr>
        <p:spPr>
          <a:xfrm>
            <a:off x="0" y="0"/>
            <a:ext cx="12192000" cy="6858000"/>
          </a:xfrm>
          <a:custGeom>
            <a:avLst/>
            <a:gdLst>
              <a:gd name="connsiteX0" fmla="*/ 9011782 w 12192000"/>
              <a:gd name="connsiteY0" fmla="*/ 4817511 h 6858000"/>
              <a:gd name="connsiteX1" fmla="*/ 8937059 w 12192000"/>
              <a:gd name="connsiteY1" fmla="*/ 4972626 h 6858000"/>
              <a:gd name="connsiteX2" fmla="*/ 8588084 w 12192000"/>
              <a:gd name="connsiteY2" fmla="*/ 5489438 h 6858000"/>
              <a:gd name="connsiteX3" fmla="*/ 8565206 w 12192000"/>
              <a:gd name="connsiteY3" fmla="*/ 5514611 h 6858000"/>
              <a:gd name="connsiteX4" fmla="*/ 8569944 w 12192000"/>
              <a:gd name="connsiteY4" fmla="*/ 5520198 h 6858000"/>
              <a:gd name="connsiteX5" fmla="*/ 8878607 w 12192000"/>
              <a:gd name="connsiteY5" fmla="*/ 5644582 h 6858000"/>
              <a:gd name="connsiteX6" fmla="*/ 9315123 w 12192000"/>
              <a:gd name="connsiteY6" fmla="*/ 5219907 h 6858000"/>
              <a:gd name="connsiteX7" fmla="*/ 9048519 w 12192000"/>
              <a:gd name="connsiteY7" fmla="*/ 4828605 h 6858000"/>
              <a:gd name="connsiteX8" fmla="*/ 6096000 w 12192000"/>
              <a:gd name="connsiteY8" fmla="*/ 200625 h 6858000"/>
              <a:gd name="connsiteX9" fmla="*/ 2867625 w 12192000"/>
              <a:gd name="connsiteY9" fmla="*/ 3429000 h 6858000"/>
              <a:gd name="connsiteX10" fmla="*/ 6096000 w 12192000"/>
              <a:gd name="connsiteY10" fmla="*/ 6657375 h 6858000"/>
              <a:gd name="connsiteX11" fmla="*/ 9324375 w 12192000"/>
              <a:gd name="connsiteY11" fmla="*/ 3429000 h 6858000"/>
              <a:gd name="connsiteX12" fmla="*/ 6096000 w 12192000"/>
              <a:gd name="connsiteY12" fmla="*/ 200625 h 6858000"/>
              <a:gd name="connsiteX13" fmla="*/ 0 w 12192000"/>
              <a:gd name="connsiteY13" fmla="*/ 0 h 6858000"/>
              <a:gd name="connsiteX14" fmla="*/ 12192000 w 12192000"/>
              <a:gd name="connsiteY14" fmla="*/ 0 h 6858000"/>
              <a:gd name="connsiteX15" fmla="*/ 12192000 w 12192000"/>
              <a:gd name="connsiteY15" fmla="*/ 6858000 h 6858000"/>
              <a:gd name="connsiteX16" fmla="*/ 0 w 12192000"/>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a:moveTo>
                  <a:pt x="9011782" y="4817511"/>
                </a:moveTo>
                <a:lnTo>
                  <a:pt x="8937059" y="4972626"/>
                </a:lnTo>
                <a:cubicBezTo>
                  <a:pt x="8837255" y="5156349"/>
                  <a:pt x="8720206" y="5329344"/>
                  <a:pt x="8588084" y="5489438"/>
                </a:cubicBezTo>
                <a:lnTo>
                  <a:pt x="8565206" y="5514611"/>
                </a:lnTo>
                <a:lnTo>
                  <a:pt x="8569944" y="5520198"/>
                </a:lnTo>
                <a:cubicBezTo>
                  <a:pt x="8648938" y="5597049"/>
                  <a:pt x="8758066" y="5644582"/>
                  <a:pt x="8878607" y="5644582"/>
                </a:cubicBezTo>
                <a:cubicBezTo>
                  <a:pt x="9119688" y="5644582"/>
                  <a:pt x="9315123" y="5454449"/>
                  <a:pt x="9315123" y="5219907"/>
                </a:cubicBezTo>
                <a:cubicBezTo>
                  <a:pt x="9315123" y="5044001"/>
                  <a:pt x="9205191" y="4893074"/>
                  <a:pt x="9048519" y="4828605"/>
                </a:cubicBezTo>
                <a:close/>
                <a:moveTo>
                  <a:pt x="6096000" y="200625"/>
                </a:moveTo>
                <a:cubicBezTo>
                  <a:pt x="4313018" y="200625"/>
                  <a:pt x="2867625" y="1646018"/>
                  <a:pt x="2867625" y="3429000"/>
                </a:cubicBezTo>
                <a:cubicBezTo>
                  <a:pt x="2867625" y="5211982"/>
                  <a:pt x="4313018" y="6657375"/>
                  <a:pt x="6096000" y="6657375"/>
                </a:cubicBezTo>
                <a:cubicBezTo>
                  <a:pt x="7878982" y="6657375"/>
                  <a:pt x="9324375" y="5211982"/>
                  <a:pt x="9324375" y="3429000"/>
                </a:cubicBezTo>
                <a:cubicBezTo>
                  <a:pt x="9324375" y="1646018"/>
                  <a:pt x="7878982" y="200625"/>
                  <a:pt x="6096000" y="200625"/>
                </a:cubicBezTo>
                <a:close/>
                <a:moveTo>
                  <a:pt x="0" y="0"/>
                </a:moveTo>
                <a:lnTo>
                  <a:pt x="12192000" y="0"/>
                </a:lnTo>
                <a:lnTo>
                  <a:pt x="12192000" y="6858000"/>
                </a:lnTo>
                <a:lnTo>
                  <a:pt x="0" y="6858000"/>
                </a:lnTo>
                <a:close/>
              </a:path>
            </a:pathLst>
          </a:custGeom>
          <a:solidFill>
            <a:schemeClr val="tx1"/>
          </a:solidFill>
        </p:spPr>
        <p:txBody>
          <a:bodyPr wrap="square">
            <a:noAutofit/>
          </a:bodyPr>
          <a:lstStyle>
            <a:lvl1pPr marL="0" indent="0" algn="l">
              <a:buNone/>
              <a:defRPr sz="2000">
                <a:solidFill>
                  <a:schemeClr val="bg1"/>
                </a:solidFill>
              </a:defRPr>
            </a:lvl1pPr>
          </a:lstStyle>
          <a:p>
            <a:r>
              <a:rPr lang="en-US"/>
              <a:t>Click icon to insert picture</a:t>
            </a:r>
          </a:p>
        </p:txBody>
      </p:sp>
      <p:sp>
        <p:nvSpPr>
          <p:cNvPr id="3" name="Arc 2">
            <a:extLst>
              <a:ext uri="{FF2B5EF4-FFF2-40B4-BE49-F238E27FC236}">
                <a16:creationId xmlns:a16="http://schemas.microsoft.com/office/drawing/2014/main" id="{D5C3C4BD-DFDB-76B4-17CA-7DA4D1729FA1}"/>
              </a:ext>
              <a:ext uri="{C183D7F6-B498-43B3-948B-1728B52AA6E4}">
                <adec:decorative xmlns:adec="http://schemas.microsoft.com/office/drawing/2017/decorative" val="1"/>
              </a:ext>
            </a:extLst>
          </p:cNvPr>
          <p:cNvSpPr/>
          <p:nvPr userDrawn="1"/>
        </p:nvSpPr>
        <p:spPr>
          <a:xfrm rot="9366740" flipV="1">
            <a:off x="2557952" y="-89828"/>
            <a:ext cx="7173200" cy="7173200"/>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itle 11">
            <a:extLst>
              <a:ext uri="{FF2B5EF4-FFF2-40B4-BE49-F238E27FC236}">
                <a16:creationId xmlns:a16="http://schemas.microsoft.com/office/drawing/2014/main" id="{2B04B61C-6467-D51D-0AF4-5C7D05F36CB5}"/>
              </a:ext>
            </a:extLst>
          </p:cNvPr>
          <p:cNvSpPr>
            <a:spLocks noGrp="1"/>
          </p:cNvSpPr>
          <p:nvPr>
            <p:ph type="title" hasCustomPrompt="1"/>
          </p:nvPr>
        </p:nvSpPr>
        <p:spPr>
          <a:xfrm>
            <a:off x="2868168" y="923544"/>
            <a:ext cx="6455664" cy="5010912"/>
          </a:xfrm>
          <a:prstGeom prst="rect">
            <a:avLst/>
          </a:prstGeom>
          <a:noFill/>
        </p:spPr>
        <p:txBody>
          <a:bodyPr lIns="0" rIns="0">
            <a:normAutofit/>
          </a:bodyPr>
          <a:lstStyle>
            <a:lvl1pPr algn="ctr">
              <a:defRPr sz="6000"/>
            </a:lvl1pPr>
          </a:lstStyle>
          <a:p>
            <a:r>
              <a:rPr lang="en-US"/>
              <a:t>Click to add title</a:t>
            </a:r>
          </a:p>
        </p:txBody>
      </p:sp>
      <p:sp>
        <p:nvSpPr>
          <p:cNvPr id="4" name="Freeform: Shape 3">
            <a:extLst>
              <a:ext uri="{FF2B5EF4-FFF2-40B4-BE49-F238E27FC236}">
                <a16:creationId xmlns:a16="http://schemas.microsoft.com/office/drawing/2014/main" id="{47A19F4B-D154-3EB2-F86A-9A63283A3EA6}"/>
              </a:ext>
              <a:ext uri="{C183D7F6-B498-43B3-948B-1728B52AA6E4}">
                <adec:decorative xmlns:adec="http://schemas.microsoft.com/office/drawing/2017/decorative" val="1"/>
              </a:ext>
            </a:extLst>
          </p:cNvPr>
          <p:cNvSpPr>
            <a:spLocks/>
          </p:cNvSpPr>
          <p:nvPr userDrawn="1"/>
        </p:nvSpPr>
        <p:spPr>
          <a:xfrm>
            <a:off x="8565206" y="4817511"/>
            <a:ext cx="749917" cy="827071"/>
          </a:xfrm>
          <a:custGeom>
            <a:avLst/>
            <a:gdLst>
              <a:gd name="connsiteX0" fmla="*/ 446576 w 749917"/>
              <a:gd name="connsiteY0" fmla="*/ 0 h 827071"/>
              <a:gd name="connsiteX1" fmla="*/ 483313 w 749917"/>
              <a:gd name="connsiteY1" fmla="*/ 11094 h 827071"/>
              <a:gd name="connsiteX2" fmla="*/ 749917 w 749917"/>
              <a:gd name="connsiteY2" fmla="*/ 402396 h 827071"/>
              <a:gd name="connsiteX3" fmla="*/ 313401 w 749917"/>
              <a:gd name="connsiteY3" fmla="*/ 827071 h 827071"/>
              <a:gd name="connsiteX4" fmla="*/ 4738 w 749917"/>
              <a:gd name="connsiteY4" fmla="*/ 702687 h 827071"/>
              <a:gd name="connsiteX5" fmla="*/ 0 w 749917"/>
              <a:gd name="connsiteY5" fmla="*/ 697100 h 827071"/>
              <a:gd name="connsiteX6" fmla="*/ 22878 w 749917"/>
              <a:gd name="connsiteY6" fmla="*/ 671927 h 827071"/>
              <a:gd name="connsiteX7" fmla="*/ 371853 w 749917"/>
              <a:gd name="connsiteY7" fmla="*/ 155115 h 827071"/>
              <a:gd name="connsiteX8" fmla="*/ 446576 w 749917"/>
              <a:gd name="connsiteY8" fmla="*/ 0 h 82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917" h="827071">
                <a:moveTo>
                  <a:pt x="446576" y="0"/>
                </a:moveTo>
                <a:lnTo>
                  <a:pt x="483313" y="11094"/>
                </a:lnTo>
                <a:cubicBezTo>
                  <a:pt x="639985" y="75563"/>
                  <a:pt x="749917" y="226490"/>
                  <a:pt x="749917" y="402396"/>
                </a:cubicBezTo>
                <a:cubicBezTo>
                  <a:pt x="749917" y="636938"/>
                  <a:pt x="554482" y="827071"/>
                  <a:pt x="313401" y="827071"/>
                </a:cubicBezTo>
                <a:cubicBezTo>
                  <a:pt x="192860" y="827071"/>
                  <a:pt x="83732" y="779538"/>
                  <a:pt x="4738" y="702687"/>
                </a:cubicBezTo>
                <a:lnTo>
                  <a:pt x="0" y="697100"/>
                </a:lnTo>
                <a:lnTo>
                  <a:pt x="22878" y="671927"/>
                </a:lnTo>
                <a:cubicBezTo>
                  <a:pt x="155000" y="511833"/>
                  <a:pt x="272049" y="338838"/>
                  <a:pt x="371853" y="155115"/>
                </a:cubicBezTo>
                <a:lnTo>
                  <a:pt x="4465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304803"/>
            <a:ext cx="10515600" cy="1472974"/>
          </a:xfrm>
        </p:spPr>
        <p:txBody>
          <a:bodyPr anchor="ctr" anchorCtr="0">
            <a:noAutofit/>
          </a:bodyPr>
          <a:lstStyle/>
          <a:p>
            <a:r>
              <a:rPr lang="en-US"/>
              <a:t>Click to add title</a:t>
            </a:r>
          </a:p>
        </p:txBody>
      </p:sp>
      <p:sp>
        <p:nvSpPr>
          <p:cNvPr id="13" name="Content Placeholder 12">
            <a:extLst>
              <a:ext uri="{FF2B5EF4-FFF2-40B4-BE49-F238E27FC236}">
                <a16:creationId xmlns:a16="http://schemas.microsoft.com/office/drawing/2014/main" id="{E3FB7D8D-37C3-E089-EC02-FB49A13CBE1D}"/>
              </a:ext>
            </a:extLst>
          </p:cNvPr>
          <p:cNvSpPr>
            <a:spLocks noGrp="1"/>
          </p:cNvSpPr>
          <p:nvPr>
            <p:ph sz="quarter" idx="13" hasCustomPrompt="1"/>
          </p:nvPr>
        </p:nvSpPr>
        <p:spPr>
          <a:xfrm>
            <a:off x="838200" y="1838099"/>
            <a:ext cx="8012113" cy="4284889"/>
          </a:xfrm>
        </p:spPr>
        <p:txBody>
          <a:bodyPr>
            <a:normAutofit/>
          </a:bodyPr>
          <a:lstStyle>
            <a:lvl1pPr>
              <a:lnSpc>
                <a:spcPct val="90000"/>
              </a:lnSpc>
              <a:spcBef>
                <a:spcPts val="1000"/>
              </a:spcBef>
              <a:spcAft>
                <a:spcPts val="800"/>
              </a:spcAft>
              <a:buClr>
                <a:schemeClr val="accent2"/>
              </a:buClr>
              <a:defRPr sz="1800"/>
            </a:lvl1pPr>
            <a:lvl2pPr>
              <a:lnSpc>
                <a:spcPct val="90000"/>
              </a:lnSpc>
              <a:spcBef>
                <a:spcPts val="1000"/>
              </a:spcBef>
              <a:spcAft>
                <a:spcPts val="800"/>
              </a:spcAft>
              <a:buClr>
                <a:schemeClr val="accent2"/>
              </a:buClr>
              <a:defRPr sz="1600"/>
            </a:lvl2pPr>
            <a:lvl3pPr>
              <a:lnSpc>
                <a:spcPct val="90000"/>
              </a:lnSpc>
              <a:spcBef>
                <a:spcPts val="1000"/>
              </a:spcBef>
              <a:spcAft>
                <a:spcPts val="800"/>
              </a:spcAft>
              <a:buClr>
                <a:schemeClr val="accent2"/>
              </a:buClr>
              <a:defRPr sz="1400"/>
            </a:lvl3pPr>
            <a:lvl4pPr>
              <a:lnSpc>
                <a:spcPct val="90000"/>
              </a:lnSpc>
              <a:spcBef>
                <a:spcPts val="1000"/>
              </a:spcBef>
              <a:spcAft>
                <a:spcPts val="800"/>
              </a:spcAft>
              <a:buClr>
                <a:schemeClr val="accent2"/>
              </a:buClr>
              <a:defRPr sz="1200"/>
            </a:lvl4pPr>
            <a:lvl5pPr>
              <a:lnSpc>
                <a:spcPct val="90000"/>
              </a:lnSpc>
              <a:spcBef>
                <a:spcPts val="1000"/>
              </a:spcBef>
              <a:spcAft>
                <a:spcPts val="800"/>
              </a:spcAft>
              <a:buClr>
                <a:schemeClr val="accent2"/>
              </a:buCl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7" name="Freeform: Shape 14">
            <a:extLst>
              <a:ext uri="{FF2B5EF4-FFF2-40B4-BE49-F238E27FC236}">
                <a16:creationId xmlns:a16="http://schemas.microsoft.com/office/drawing/2014/main" id="{438B6FA2-AF11-618E-2B1A-38BF083DF340}"/>
              </a:ext>
              <a:ext uri="{C183D7F6-B498-43B3-948B-1728B52AA6E4}">
                <adec:decorative xmlns:adec="http://schemas.microsoft.com/office/drawing/2017/decorative" val="1"/>
              </a:ext>
            </a:extLst>
          </p:cNvPr>
          <p:cNvSpPr/>
          <p:nvPr userDrawn="1"/>
        </p:nvSpPr>
        <p:spPr>
          <a:xfrm rot="16200000">
            <a:off x="-381048" y="5144407"/>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13">
            <a:extLst>
              <a:ext uri="{FF2B5EF4-FFF2-40B4-BE49-F238E27FC236}">
                <a16:creationId xmlns:a16="http://schemas.microsoft.com/office/drawing/2014/main" id="{A269A8D8-A4AE-CEFF-E928-7DB1CFB3E401}"/>
              </a:ext>
              <a:ext uri="{C183D7F6-B498-43B3-948B-1728B52AA6E4}">
                <adec:decorative xmlns:adec="http://schemas.microsoft.com/office/drawing/2017/decorative" val="1"/>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Shape 19">
            <a:extLst>
              <a:ext uri="{FF2B5EF4-FFF2-40B4-BE49-F238E27FC236}">
                <a16:creationId xmlns:a16="http://schemas.microsoft.com/office/drawing/2014/main" id="{15418837-E689-97BE-9FAD-FEDBD599EBAD}"/>
              </a:ext>
              <a:ext uri="{C183D7F6-B498-43B3-948B-1728B52AA6E4}">
                <adec:decorative xmlns:adec="http://schemas.microsoft.com/office/drawing/2017/decorative" val="1"/>
              </a:ext>
            </a:extLst>
          </p:cNvPr>
          <p:cNvSpPr/>
          <p:nvPr userDrawn="1"/>
        </p:nvSpPr>
        <p:spPr>
          <a:xfrm rot="10800000" flipH="1">
            <a:off x="11109434" y="3527042"/>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DF76A42-387B-8D66-1214-D40462070066}"/>
              </a:ext>
              <a:ext uri="{C183D7F6-B498-43B3-948B-1728B52AA6E4}">
                <adec:decorative xmlns:adec="http://schemas.microsoft.com/office/drawing/2017/decorative" val="1"/>
              </a:ext>
            </a:extLst>
          </p:cNvPr>
          <p:cNvSpPr/>
          <p:nvPr userDrawn="1"/>
        </p:nvSpPr>
        <p:spPr>
          <a:xfrm>
            <a:off x="7940621" y="704193"/>
            <a:ext cx="2296455" cy="229645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D2ACE818-46EF-547E-9315-A849483036BF}"/>
              </a:ext>
              <a:ext uri="{C183D7F6-B498-43B3-948B-1728B52AA6E4}">
                <adec:decorative xmlns:adec="http://schemas.microsoft.com/office/drawing/2017/decorative" val="1"/>
              </a:ext>
            </a:extLst>
          </p:cNvPr>
          <p:cNvGrpSpPr/>
          <p:nvPr userDrawn="1"/>
        </p:nvGrpSpPr>
        <p:grpSpPr>
          <a:xfrm>
            <a:off x="577652" y="0"/>
            <a:ext cx="8798419" cy="6816262"/>
            <a:chOff x="577652" y="-28502"/>
            <a:chExt cx="8798419" cy="6816262"/>
          </a:xfrm>
        </p:grpSpPr>
        <p:sp>
          <p:nvSpPr>
            <p:cNvPr id="9" name="Oval 8">
              <a:extLst>
                <a:ext uri="{FF2B5EF4-FFF2-40B4-BE49-F238E27FC236}">
                  <a16:creationId xmlns:a16="http://schemas.microsoft.com/office/drawing/2014/main" id="{E9644D21-8793-9A96-F305-5D20EE342B26}"/>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DF8D7AEF-C845-09F0-F31C-20B32BBA1EBA}"/>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F9D44CB-887B-C74D-3E96-5607E84DAEFF}"/>
                </a:ext>
              </a:extLst>
            </p:cNvPr>
            <p:cNvSpPr/>
            <p:nvPr userDrawn="1"/>
          </p:nvSpPr>
          <p:spPr>
            <a:xfrm>
              <a:off x="577652" y="1085116"/>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Freeform: Shape 19">
            <a:extLst>
              <a:ext uri="{FF2B5EF4-FFF2-40B4-BE49-F238E27FC236}">
                <a16:creationId xmlns:a16="http://schemas.microsoft.com/office/drawing/2014/main" id="{87D193F4-2337-0048-1BE7-C9A8154191F9}"/>
              </a:ext>
              <a:ext uri="{C183D7F6-B498-43B3-948B-1728B52AA6E4}">
                <adec:decorative xmlns:adec="http://schemas.microsoft.com/office/drawing/2017/decorative" val="1"/>
              </a:ext>
            </a:extLst>
          </p:cNvPr>
          <p:cNvSpPr/>
          <p:nvPr userDrawn="1"/>
        </p:nvSpPr>
        <p:spPr>
          <a:xfrm rot="16200000" flipH="1">
            <a:off x="936118" y="5508455"/>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45EE4510-BCBA-C39A-BEF1-A391A3304F88}"/>
              </a:ext>
              <a:ext uri="{C183D7F6-B498-43B3-948B-1728B52AA6E4}">
                <adec:decorative xmlns:adec="http://schemas.microsoft.com/office/drawing/2017/decorative" val="1"/>
              </a:ext>
            </a:extLst>
          </p:cNvPr>
          <p:cNvCxnSpPr>
            <a:cxnSpLocks/>
          </p:cNvCxnSpPr>
          <p:nvPr userDrawn="1"/>
        </p:nvCxnSpPr>
        <p:spPr>
          <a:xfrm>
            <a:off x="11494655" y="5270490"/>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2815929" y="1349825"/>
            <a:ext cx="6560142" cy="3063149"/>
          </a:xfrm>
        </p:spPr>
        <p:txBody>
          <a:bodyPr anchor="ctr">
            <a:noAutofit/>
          </a:bodyPr>
          <a:lstStyle>
            <a:lvl1pPr algn="ct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815929" y="4412973"/>
            <a:ext cx="6560142" cy="1935571"/>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4915163"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FB01ADF-164A-96FB-0129-C2A0F0ED0A85}"/>
              </a:ext>
            </a:extLst>
          </p:cNvPr>
          <p:cNvSpPr>
            <a:spLocks noGrp="1"/>
          </p:cNvSpPr>
          <p:nvPr>
            <p:ph sz="half" idx="15" hasCustomPrompt="1"/>
          </p:nvPr>
        </p:nvSpPr>
        <p:spPr>
          <a:xfrm>
            <a:off x="6147896" y="1816916"/>
            <a:ext cx="5212080"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11" name="Group 10">
            <a:extLst>
              <a:ext uri="{FF2B5EF4-FFF2-40B4-BE49-F238E27FC236}">
                <a16:creationId xmlns:a16="http://schemas.microsoft.com/office/drawing/2014/main" id="{C263F0DD-A38B-64B8-7412-087B487E6D47}"/>
              </a:ext>
              <a:ext uri="{C183D7F6-B498-43B3-948B-1728B52AA6E4}">
                <adec:decorative xmlns:adec="http://schemas.microsoft.com/office/drawing/2017/decorative" val="1"/>
              </a:ext>
            </a:extLst>
          </p:cNvPr>
          <p:cNvGrpSpPr/>
          <p:nvPr userDrawn="1"/>
        </p:nvGrpSpPr>
        <p:grpSpPr>
          <a:xfrm>
            <a:off x="123536" y="2"/>
            <a:ext cx="12068464" cy="6857998"/>
            <a:chOff x="123536" y="2"/>
            <a:chExt cx="12068464" cy="6857998"/>
          </a:xfrm>
        </p:grpSpPr>
        <p:sp>
          <p:nvSpPr>
            <p:cNvPr id="12" name="Freeform: Shape 9">
              <a:extLst>
                <a:ext uri="{FF2B5EF4-FFF2-40B4-BE49-F238E27FC236}">
                  <a16:creationId xmlns:a16="http://schemas.microsoft.com/office/drawing/2014/main" id="{44CE2FB7-A856-E3C3-9798-73AAFB7901B8}"/>
                </a:ext>
              </a:extLst>
            </p:cNvPr>
            <p:cNvSpPr/>
            <p:nvPr userDrawn="1"/>
          </p:nvSpPr>
          <p:spPr>
            <a:xfrm>
              <a:off x="5671336"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reeform: Shape 10">
              <a:extLst>
                <a:ext uri="{FF2B5EF4-FFF2-40B4-BE49-F238E27FC236}">
                  <a16:creationId xmlns:a16="http://schemas.microsoft.com/office/drawing/2014/main" id="{47ED62E5-894A-A8F9-A6DC-4A5C147CDE78}"/>
                </a:ext>
              </a:extLst>
            </p:cNvPr>
            <p:cNvSpPr/>
            <p:nvPr userDrawn="1"/>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Shape 11">
              <a:extLst>
                <a:ext uri="{FF2B5EF4-FFF2-40B4-BE49-F238E27FC236}">
                  <a16:creationId xmlns:a16="http://schemas.microsoft.com/office/drawing/2014/main" id="{5C181CD4-C69B-2826-AF23-060D677248A9}"/>
                </a:ext>
              </a:extLst>
            </p:cNvPr>
            <p:cNvSpPr/>
            <p:nvPr userDrawn="1"/>
          </p:nvSpPr>
          <p:spPr>
            <a:xfrm rot="5400000">
              <a:off x="11328915" y="3872201"/>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p>
            <a:r>
              <a:rPr lang="en-US"/>
              <a:t>Click to add title</a:t>
            </a:r>
          </a:p>
        </p:txBody>
      </p:sp>
      <p:sp>
        <p:nvSpPr>
          <p:cNvPr id="11" name="Content Placeholder 2">
            <a:extLst>
              <a:ext uri="{FF2B5EF4-FFF2-40B4-BE49-F238E27FC236}">
                <a16:creationId xmlns:a16="http://schemas.microsoft.com/office/drawing/2014/main" id="{60538251-2B75-FA20-0F29-FB58583E6125}"/>
              </a:ext>
            </a:extLst>
          </p:cNvPr>
          <p:cNvSpPr>
            <a:spLocks noGrp="1"/>
          </p:cNvSpPr>
          <p:nvPr>
            <p:ph sz="half" idx="1" hasCustomPrompt="1"/>
          </p:nvPr>
        </p:nvSpPr>
        <p:spPr>
          <a:xfrm>
            <a:off x="838201" y="1825625"/>
            <a:ext cx="3108958" cy="4297680"/>
          </a:xfrm>
        </p:spPr>
        <p:txBody>
          <a:bodyPr>
            <a:normAutofit/>
          </a:bodyPr>
          <a:lstStyle>
            <a:lvl1pPr marL="228600" indent="-228600">
              <a:spcBef>
                <a:spcPts val="1000"/>
              </a:spcBef>
              <a:spcAft>
                <a:spcPts val="800"/>
              </a:spcAft>
              <a:buClr>
                <a:schemeClr val="accent2"/>
              </a:buClr>
              <a:buFont typeface="Arial" panose="020B0604020202020204" pitchFamily="34" charset="0"/>
              <a:buChar char="•"/>
              <a:defRPr sz="1800"/>
            </a:lvl1pPr>
            <a:lvl2pPr marL="285750" indent="-285750">
              <a:spcBef>
                <a:spcPts val="1000"/>
              </a:spcBef>
              <a:spcAft>
                <a:spcPts val="800"/>
              </a:spcAft>
              <a:buClr>
                <a:schemeClr val="accent2"/>
              </a:buClr>
              <a:buFont typeface="Arial" panose="020B0604020202020204" pitchFamily="34" charset="0"/>
              <a:buChar char="•"/>
              <a:defRPr sz="1800"/>
            </a:lvl2pPr>
            <a:lvl3pPr marL="651510" indent="-285750">
              <a:spcBef>
                <a:spcPts val="1000"/>
              </a:spcBef>
              <a:spcAft>
                <a:spcPts val="800"/>
              </a:spcAft>
              <a:buClr>
                <a:schemeClr val="accent2"/>
              </a:buClr>
              <a:buFont typeface="Arial" panose="020B0604020202020204" pitchFamily="34" charset="0"/>
              <a:buChar char="•"/>
              <a:defRPr sz="1800"/>
            </a:lvl3pPr>
            <a:lvl4pPr marL="925830" indent="-285750">
              <a:spcBef>
                <a:spcPts val="1000"/>
              </a:spcBef>
              <a:spcAft>
                <a:spcPts val="800"/>
              </a:spcAft>
              <a:buClr>
                <a:schemeClr val="accent2"/>
              </a:buClr>
              <a:buFont typeface="Arial" panose="020B0604020202020204" pitchFamily="34" charset="0"/>
              <a:buChar char="•"/>
              <a:defRPr sz="1800"/>
            </a:lvl4pPr>
            <a:lvl5pPr marL="1200150" indent="-285750">
              <a:spcBef>
                <a:spcPts val="1000"/>
              </a:spcBef>
              <a:spcAft>
                <a:spcPts val="800"/>
              </a:spcAft>
              <a:buClr>
                <a:schemeClr val="accent2"/>
              </a:buClr>
              <a:buFont typeface="Arial" panose="020B0604020202020204" pitchFamily="34" charset="0"/>
              <a:buChar char="•"/>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A06C49DD-8C29-93EA-04F4-22F84080DF5C}"/>
              </a:ext>
            </a:extLst>
          </p:cNvPr>
          <p:cNvSpPr>
            <a:spLocks noGrp="1"/>
          </p:cNvSpPr>
          <p:nvPr>
            <p:ph sz="half" idx="15" hasCustomPrompt="1"/>
          </p:nvPr>
        </p:nvSpPr>
        <p:spPr>
          <a:xfrm>
            <a:off x="4661820" y="1816916"/>
            <a:ext cx="6698156" cy="4297680"/>
          </a:xfrm>
        </p:spPr>
        <p:txBody>
          <a:bodyPr>
            <a:normAutofit/>
          </a:bodyPr>
          <a:lstStyle>
            <a:lvl1pPr marL="0" indent="0">
              <a:spcBef>
                <a:spcPts val="1000"/>
              </a:spcBef>
              <a:spcAft>
                <a:spcPts val="800"/>
              </a:spcAft>
              <a:buNone/>
              <a:defRPr sz="1800"/>
            </a:lvl1pPr>
            <a:lvl2pPr marL="228600" indent="-228600">
              <a:spcBef>
                <a:spcPts val="1000"/>
              </a:spcBef>
              <a:spcAft>
                <a:spcPts val="800"/>
              </a:spcAft>
              <a:buClr>
                <a:schemeClr val="accent2"/>
              </a:buClr>
              <a:buFont typeface="Arial" panose="020B0604020202020204" pitchFamily="34" charset="0"/>
              <a:buChar char="•"/>
              <a:defRPr sz="1800"/>
            </a:lvl2pPr>
            <a:lvl3pPr marL="594360" indent="-228600">
              <a:spcBef>
                <a:spcPts val="1000"/>
              </a:spcBef>
              <a:spcAft>
                <a:spcPts val="800"/>
              </a:spcAft>
              <a:buClr>
                <a:schemeClr val="accent2"/>
              </a:buClr>
              <a:buFont typeface="Arial" panose="020B0604020202020204" pitchFamily="34" charset="0"/>
              <a:buChar char="•"/>
              <a:defRPr sz="1800"/>
            </a:lvl3pPr>
            <a:lvl4pPr marL="868680" indent="-228600">
              <a:spcBef>
                <a:spcPts val="1000"/>
              </a:spcBef>
              <a:spcAft>
                <a:spcPts val="800"/>
              </a:spcAft>
              <a:buClr>
                <a:schemeClr val="accent2"/>
              </a:buClr>
              <a:buFont typeface="Arial" panose="020B0604020202020204" pitchFamily="34" charset="0"/>
              <a:buChar char="•"/>
              <a:defRPr sz="1800"/>
            </a:lvl4pPr>
            <a:lvl5pPr marL="1143000" indent="-228600">
              <a:spcBef>
                <a:spcPts val="1000"/>
              </a:spcBef>
              <a:spcAft>
                <a:spcPts val="800"/>
              </a:spcAft>
              <a:buClr>
                <a:schemeClr val="accent2"/>
              </a:buClr>
              <a:buFont typeface="Arial" panose="020B0604020202020204" pitchFamily="34" charset="0"/>
              <a:buChar char="•"/>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8" name="Freeform: Shape 11">
            <a:extLst>
              <a:ext uri="{FF2B5EF4-FFF2-40B4-BE49-F238E27FC236}">
                <a16:creationId xmlns:a16="http://schemas.microsoft.com/office/drawing/2014/main" id="{1E75594D-82D2-74F6-56EC-46FCD28CBE68}"/>
              </a:ext>
              <a:ext uri="{C183D7F6-B498-43B3-948B-1728B52AA6E4}">
                <adec:decorative xmlns:adec="http://schemas.microsoft.com/office/drawing/2017/decorative" val="1"/>
              </a:ext>
            </a:extLst>
          </p:cNvPr>
          <p:cNvSpPr/>
          <p:nvPr userDrawn="1"/>
        </p:nvSpPr>
        <p:spPr>
          <a:xfrm>
            <a:off x="9994966" y="0"/>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FF4E0F5B-0892-2688-EFD3-284369DA50CD}"/>
              </a:ext>
              <a:ext uri="{C183D7F6-B498-43B3-948B-1728B52AA6E4}">
                <adec:decorative xmlns:adec="http://schemas.microsoft.com/office/drawing/2017/decorative" val="1"/>
              </a:ext>
            </a:extLst>
          </p:cNvPr>
          <p:cNvSpPr/>
          <p:nvPr userDrawn="1"/>
        </p:nvSpPr>
        <p:spPr>
          <a:xfrm rot="10800000">
            <a:off x="8097530" y="5590215"/>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71D8715A-3067-732D-C410-868C7CCCF750}"/>
              </a:ext>
              <a:ext uri="{C183D7F6-B498-43B3-948B-1728B52AA6E4}">
                <adec:decorative xmlns:adec="http://schemas.microsoft.com/office/drawing/2017/decorative" val="1"/>
              </a:ext>
            </a:extLst>
          </p:cNvPr>
          <p:cNvCxnSpPr>
            <a:cxnSpLocks/>
          </p:cNvCxnSpPr>
          <p:nvPr userDrawn="1"/>
        </p:nvCxnSpPr>
        <p:spPr>
          <a:xfrm rot="16200000">
            <a:off x="982378" y="551212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07BCF9-2F5B-200E-2E6C-E177DB56ECB0}"/>
              </a:ext>
              <a:ext uri="{C183D7F6-B498-43B3-948B-1728B52AA6E4}">
                <adec:decorative xmlns:adec="http://schemas.microsoft.com/office/drawing/2017/decorative" val="1"/>
              </a:ext>
            </a:extLst>
          </p:cNvPr>
          <p:cNvGrpSpPr/>
          <p:nvPr userDrawn="1"/>
        </p:nvGrpSpPr>
        <p:grpSpPr>
          <a:xfrm>
            <a:off x="0" y="7458"/>
            <a:ext cx="7083733" cy="6182202"/>
            <a:chOff x="0" y="7460"/>
            <a:chExt cx="7083733" cy="6182202"/>
          </a:xfrm>
        </p:grpSpPr>
        <p:sp>
          <p:nvSpPr>
            <p:cNvPr id="9" name="Freeform: Shape 14">
              <a:extLst>
                <a:ext uri="{FF2B5EF4-FFF2-40B4-BE49-F238E27FC236}">
                  <a16:creationId xmlns:a16="http://schemas.microsoft.com/office/drawing/2014/main" id="{7A624B2B-50FD-9351-987F-2E5A5472CAB6}"/>
                </a:ext>
              </a:extLst>
            </p:cNvPr>
            <p:cNvSpPr/>
            <p:nvPr userDrawn="1"/>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51E534EE-E0F1-2BD9-9A82-7656B90A2D9D}"/>
                </a:ext>
              </a:extLst>
            </p:cNvPr>
            <p:cNvSpPr/>
            <p:nvPr userDrawn="1"/>
          </p:nvSpPr>
          <p:spPr>
            <a:xfrm>
              <a:off x="6234405" y="7460"/>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0" y="198437"/>
            <a:ext cx="5257800" cy="2324046"/>
          </a:xfrm>
        </p:spPr>
        <p:txBody>
          <a:bodyPr anchor="b" anchorCtr="0">
            <a:noAutofit/>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657316"/>
            <a:ext cx="5257800" cy="336985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413114" y="845068"/>
            <a:ext cx="5193792" cy="5193792"/>
          </a:xfrm>
          <a:prstGeom prst="ellipse">
            <a:avLst/>
          </a:prstGeom>
        </p:spPr>
        <p:txBody>
          <a:bodyPr/>
          <a:lstStyle>
            <a:lvl1pPr marL="0" indent="0" algn="ctr">
              <a:buNone/>
              <a:defRPr/>
            </a:lvl1pPr>
          </a:lstStyle>
          <a:p>
            <a:r>
              <a:rPr lang="en-US"/>
              <a:t>Click icon to add picture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21BD3DB-6F51-C1AE-FF0E-D0BDCB55F30B}"/>
              </a:ext>
              <a:ext uri="{C183D7F6-B498-43B3-948B-1728B52AA6E4}">
                <adec:decorative xmlns:adec="http://schemas.microsoft.com/office/drawing/2017/decorative" val="1"/>
              </a:ext>
            </a:extLst>
          </p:cNvPr>
          <p:cNvGrpSpPr/>
          <p:nvPr userDrawn="1"/>
        </p:nvGrpSpPr>
        <p:grpSpPr>
          <a:xfrm>
            <a:off x="123536" y="2"/>
            <a:ext cx="11220225" cy="6857998"/>
            <a:chOff x="123536" y="2"/>
            <a:chExt cx="11220225" cy="6857998"/>
          </a:xfrm>
        </p:grpSpPr>
        <p:sp>
          <p:nvSpPr>
            <p:cNvPr id="12" name="Freeform: Shape 7">
              <a:extLst>
                <a:ext uri="{FF2B5EF4-FFF2-40B4-BE49-F238E27FC236}">
                  <a16:creationId xmlns:a16="http://schemas.microsoft.com/office/drawing/2014/main" id="{59903C17-0733-BE0C-7392-283FEC2E98B0}"/>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Shape 1">
              <a:extLst>
                <a:ext uri="{FF2B5EF4-FFF2-40B4-BE49-F238E27FC236}">
                  <a16:creationId xmlns:a16="http://schemas.microsoft.com/office/drawing/2014/main" id="{898A3450-9C87-13ED-79CC-F4F65D14FF72}"/>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2882462" cy="429767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038599" y="1825625"/>
            <a:ext cx="7315199" cy="4297680"/>
          </a:xfrm>
        </p:spPr>
        <p:txBody>
          <a:bodyPr>
            <a:normAutofit/>
          </a:bodyPr>
          <a:lstStyle>
            <a:lvl1pPr marL="0" indent="0">
              <a:buNone/>
              <a:defRPr sz="2400"/>
            </a:lvl1pPr>
          </a:lstStyle>
          <a:p>
            <a:r>
              <a:rPr lang="en-US"/>
              <a:t>Click icon to add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FE4C84-13A1-72EA-6541-7C8FDDEA71C0}"/>
              </a:ext>
              <a:ext uri="{C183D7F6-B498-43B3-948B-1728B52AA6E4}">
                <adec:decorative xmlns:adec="http://schemas.microsoft.com/office/drawing/2017/decorative" val="1"/>
              </a:ext>
            </a:extLst>
          </p:cNvPr>
          <p:cNvSpPr/>
          <p:nvPr userDrawn="1"/>
        </p:nvSpPr>
        <p:spPr>
          <a:xfrm>
            <a:off x="361563" y="5800859"/>
            <a:ext cx="692016" cy="692016"/>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0468883-4E51-D3BD-E1C6-601ED9B6EF0E}"/>
              </a:ext>
              <a:ext uri="{C183D7F6-B498-43B3-948B-1728B52AA6E4}">
                <adec:decorative xmlns:adec="http://schemas.microsoft.com/office/drawing/2017/decorative" val="1"/>
              </a:ext>
            </a:extLst>
          </p:cNvPr>
          <p:cNvSpPr/>
          <p:nvPr userDrawn="1"/>
        </p:nvSpPr>
        <p:spPr>
          <a:xfrm rot="21438747" flipV="1">
            <a:off x="7967025" y="2530995"/>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9">
            <a:extLst>
              <a:ext uri="{FF2B5EF4-FFF2-40B4-BE49-F238E27FC236}">
                <a16:creationId xmlns:a16="http://schemas.microsoft.com/office/drawing/2014/main" id="{111AEF3F-9A86-45CE-4817-E3E6863DC09A}"/>
              </a:ext>
              <a:ext uri="{C183D7F6-B498-43B3-948B-1728B52AA6E4}">
                <adec:decorative xmlns:adec="http://schemas.microsoft.com/office/drawing/2017/decorative" val="1"/>
              </a:ext>
            </a:extLst>
          </p:cNvPr>
          <p:cNvSpPr/>
          <p:nvPr userDrawn="1"/>
        </p:nvSpPr>
        <p:spPr>
          <a:xfrm flipH="1">
            <a:off x="11764789" y="390570"/>
            <a:ext cx="437721" cy="797078"/>
          </a:xfrm>
          <a:custGeom>
            <a:avLst/>
            <a:gdLst>
              <a:gd name="connsiteX0" fmla="*/ 28069 w 437721"/>
              <a:gd name="connsiteY0" fmla="*/ 0 h 797078"/>
              <a:gd name="connsiteX1" fmla="*/ 437721 w 437721"/>
              <a:gd name="connsiteY1" fmla="*/ 398539 h 797078"/>
              <a:gd name="connsiteX2" fmla="*/ 28069 w 437721"/>
              <a:gd name="connsiteY2" fmla="*/ 797078 h 797078"/>
              <a:gd name="connsiteX3" fmla="*/ 0 w 437721"/>
              <a:gd name="connsiteY3" fmla="*/ 794325 h 797078"/>
              <a:gd name="connsiteX4" fmla="*/ 0 w 437721"/>
              <a:gd name="connsiteY4" fmla="*/ 2753 h 797078"/>
              <a:gd name="connsiteX5" fmla="*/ 28069 w 437721"/>
              <a:gd name="connsiteY5" fmla="*/ 0 h 7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21" h="797078">
                <a:moveTo>
                  <a:pt x="28069" y="0"/>
                </a:moveTo>
                <a:cubicBezTo>
                  <a:pt x="254314" y="0"/>
                  <a:pt x="437721" y="178432"/>
                  <a:pt x="437721" y="398539"/>
                </a:cubicBezTo>
                <a:cubicBezTo>
                  <a:pt x="437721" y="618646"/>
                  <a:pt x="254314" y="797078"/>
                  <a:pt x="28069" y="797078"/>
                </a:cubicBezTo>
                <a:lnTo>
                  <a:pt x="0" y="794325"/>
                </a:lnTo>
                <a:lnTo>
                  <a:pt x="0" y="2753"/>
                </a:lnTo>
                <a:lnTo>
                  <a:pt x="280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a:t>Click to add title</a:t>
            </a:r>
          </a:p>
        </p:txBody>
      </p:sp>
      <p:sp>
        <p:nvSpPr>
          <p:cNvPr id="9" name="Content Placeholder 2">
            <a:extLst>
              <a:ext uri="{FF2B5EF4-FFF2-40B4-BE49-F238E27FC236}">
                <a16:creationId xmlns:a16="http://schemas.microsoft.com/office/drawing/2014/main" id="{F5A792C8-BB21-CDAF-668C-C1EFF45540C6}"/>
              </a:ext>
            </a:extLst>
          </p:cNvPr>
          <p:cNvSpPr>
            <a:spLocks noGrp="1"/>
          </p:cNvSpPr>
          <p:nvPr>
            <p:ph sz="half" idx="13" hasCustomPrompt="1"/>
          </p:nvPr>
        </p:nvSpPr>
        <p:spPr>
          <a:xfrm>
            <a:off x="838200" y="1825625"/>
            <a:ext cx="6934200" cy="4297680"/>
          </a:xfrm>
          <a:noFill/>
        </p:spPr>
        <p:txBody>
          <a:bodyPr vert="horz" lIns="91440" tIns="45720" rIns="91440" bIns="45720" rtlCol="0" anchor="t">
            <a:normAutofit/>
          </a:bodyPr>
          <a:lstStyle>
            <a:lvl1pPr marL="0" indent="0">
              <a:spcBef>
                <a:spcPts val="1000"/>
              </a:spcBef>
              <a:spcAft>
                <a:spcPts val="800"/>
              </a:spcAft>
              <a:buNone/>
              <a:defRPr sz="1800"/>
            </a:lvl1pPr>
            <a:lvl2pPr>
              <a:spcBef>
                <a:spcPts val="500"/>
              </a:spcBef>
              <a:spcAft>
                <a:spcPts val="800"/>
              </a:spcAft>
              <a:buClr>
                <a:schemeClr val="accent2"/>
              </a:buClr>
              <a:defRPr sz="1800"/>
            </a:lvl2pPr>
            <a:lvl3pPr>
              <a:spcBef>
                <a:spcPts val="1000"/>
              </a:spcBef>
              <a:buClr>
                <a:schemeClr val="accent2"/>
              </a:buClr>
              <a:defRPr sz="1800"/>
            </a:lvl3pPr>
            <a:lvl4pPr>
              <a:spcBef>
                <a:spcPts val="1000"/>
              </a:spcBef>
              <a:buClr>
                <a:schemeClr val="accent2"/>
              </a:buClr>
              <a:defRPr sz="1800"/>
            </a:lvl4pPr>
            <a:lvl5pPr>
              <a:spcBef>
                <a:spcPts val="1000"/>
              </a:spcBef>
              <a:buClr>
                <a:schemeClr val="accent2"/>
              </a:buClr>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endParaRPr lang="en-US" sz="1800">
              <a:latin typeface="Avenir Next LT Pro" panose="020B0504020202020204" pitchFamily="34" charset="77"/>
            </a:endParaRP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03029" y="1825625"/>
            <a:ext cx="3450771" cy="4297680"/>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p>
            <a:r>
              <a:rPr lang="en-US"/>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1825625"/>
            <a:ext cx="10515600" cy="4297680"/>
          </a:xfrm>
        </p:spPr>
        <p:txBody>
          <a:bodyPr>
            <a:normAutofit/>
          </a:bodyPr>
          <a:lstStyle>
            <a:lvl1pPr>
              <a:defRPr sz="2400"/>
            </a:lvl1pPr>
          </a:lstStyle>
          <a:p>
            <a:r>
              <a:rPr lang="en-US"/>
              <a:t>Click icon to add table</a:t>
            </a:r>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B7232D-F1A6-B6C3-3BBF-E834CC7CDC8E}"/>
              </a:ext>
              <a:ext uri="{C183D7F6-B498-43B3-948B-1728B52AA6E4}">
                <adec:decorative xmlns:adec="http://schemas.microsoft.com/office/drawing/2017/decorative" val="1"/>
              </a:ext>
            </a:extLst>
          </p:cNvPr>
          <p:cNvGrpSpPr/>
          <p:nvPr userDrawn="1"/>
        </p:nvGrpSpPr>
        <p:grpSpPr>
          <a:xfrm>
            <a:off x="0" y="0"/>
            <a:ext cx="5930138" cy="6858001"/>
            <a:chOff x="0" y="-1"/>
            <a:chExt cx="5930138" cy="6858001"/>
          </a:xfrm>
        </p:grpSpPr>
        <p:sp>
          <p:nvSpPr>
            <p:cNvPr id="8" name="Oval 7">
              <a:extLst>
                <a:ext uri="{FF2B5EF4-FFF2-40B4-BE49-F238E27FC236}">
                  <a16:creationId xmlns:a16="http://schemas.microsoft.com/office/drawing/2014/main" id="{0D306340-6BFD-FE3D-535B-B59C1C44EDDA}"/>
                </a:ext>
              </a:extLst>
            </p:cNvPr>
            <p:cNvSpPr/>
            <p:nvPr userDrawn="1"/>
          </p:nvSpPr>
          <p:spPr>
            <a:xfrm>
              <a:off x="383877" y="778462"/>
              <a:ext cx="5315035" cy="53150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reeform: Shape 11">
              <a:extLst>
                <a:ext uri="{FF2B5EF4-FFF2-40B4-BE49-F238E27FC236}">
                  <a16:creationId xmlns:a16="http://schemas.microsoft.com/office/drawing/2014/main" id="{338E6C4B-ABF3-8B7E-8DCF-A93F69C712B1}"/>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6F90F99F-B12A-E8F9-5A86-D76B201D6308}"/>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5">
              <a:extLst>
                <a:ext uri="{FF2B5EF4-FFF2-40B4-BE49-F238E27FC236}">
                  <a16:creationId xmlns:a16="http://schemas.microsoft.com/office/drawing/2014/main" id="{BFA99EFE-81BC-95EA-FA61-B7199AD98A74}"/>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7">
              <a:extLst>
                <a:ext uri="{FF2B5EF4-FFF2-40B4-BE49-F238E27FC236}">
                  <a16:creationId xmlns:a16="http://schemas.microsoft.com/office/drawing/2014/main" id="{DD9FC028-D877-28FE-C646-DBD85D932641}"/>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Shape 21">
              <a:extLst>
                <a:ext uri="{FF2B5EF4-FFF2-40B4-BE49-F238E27FC236}">
                  <a16:creationId xmlns:a16="http://schemas.microsoft.com/office/drawing/2014/main" id="{AA0AFFE9-F0C2-BDA0-BF87-9977706AB6A8}"/>
                </a:ext>
              </a:extLst>
            </p:cNvPr>
            <p:cNvSpPr/>
            <p:nvPr userDrawn="1"/>
          </p:nvSpPr>
          <p:spPr>
            <a:xfrm flipH="1">
              <a:off x="4364198"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383876" y="764502"/>
            <a:ext cx="5315035" cy="5328996"/>
          </a:xfrm>
        </p:spPr>
        <p:txBody>
          <a:bodyPr>
            <a:noAutofit/>
          </a:bodyPr>
          <a:lstStyle>
            <a:lvl1pPr algn="ctr">
              <a:defRPr sz="44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605455" y="755171"/>
            <a:ext cx="4619937" cy="5315035"/>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5486475" y="1206817"/>
            <a:ext cx="6261291" cy="2396686"/>
          </a:xfrm>
          <a:noFill/>
        </p:spPr>
        <p:txBody>
          <a:bodyPr anchor="b">
            <a:noAutofit/>
          </a:bodyPr>
          <a:lstStyle/>
          <a:p>
            <a:r>
              <a:rPr lang="en-US">
                <a:latin typeface="Calibri"/>
                <a:ea typeface="Calibri"/>
                <a:cs typeface="Calibri"/>
              </a:rPr>
              <a:t>Facial Recognition Drawer</a:t>
            </a:r>
          </a:p>
        </p:txBody>
      </p:sp>
      <p:sp>
        <p:nvSpPr>
          <p:cNvPr id="3" name="TextBox 2">
            <a:extLst>
              <a:ext uri="{FF2B5EF4-FFF2-40B4-BE49-F238E27FC236}">
                <a16:creationId xmlns:a16="http://schemas.microsoft.com/office/drawing/2014/main" id="{423D01F6-A2D8-FB9E-A339-6BC4FC9EBBFF}"/>
              </a:ext>
            </a:extLst>
          </p:cNvPr>
          <p:cNvSpPr txBox="1"/>
          <p:nvPr/>
        </p:nvSpPr>
        <p:spPr>
          <a:xfrm>
            <a:off x="5930709" y="5651183"/>
            <a:ext cx="6261291" cy="646331"/>
          </a:xfrm>
          <a:prstGeom prst="rect">
            <a:avLst/>
          </a:prstGeom>
          <a:noFill/>
        </p:spPr>
        <p:txBody>
          <a:bodyPr wrap="square" rtlCol="0">
            <a:spAutoFit/>
          </a:bodyPr>
          <a:lstStyle/>
          <a:p>
            <a:r>
              <a:rPr lang="en-US">
                <a:solidFill>
                  <a:schemeClr val="bg1"/>
                </a:solidFill>
                <a:latin typeface="Calibri"/>
                <a:ea typeface="Calibri"/>
                <a:cs typeface="Calibri"/>
              </a:rPr>
              <a:t>Project Proposal By: Elijah Ghaya, Ezra </a:t>
            </a:r>
            <a:r>
              <a:rPr lang="en-US" err="1">
                <a:solidFill>
                  <a:schemeClr val="bg1"/>
                </a:solidFill>
                <a:latin typeface="Calibri"/>
                <a:ea typeface="Calibri"/>
                <a:cs typeface="Calibri"/>
              </a:rPr>
              <a:t>Bakatubia</a:t>
            </a:r>
            <a:r>
              <a:rPr lang="en-US">
                <a:solidFill>
                  <a:schemeClr val="bg1"/>
                </a:solidFill>
                <a:latin typeface="Calibri"/>
                <a:ea typeface="Calibri"/>
                <a:cs typeface="Calibri"/>
              </a:rPr>
              <a:t>, Jesus Chavez-espino, Liqa Hasan Syed Mohammed Zaidi</a:t>
            </a:r>
          </a:p>
        </p:txBody>
      </p:sp>
      <p:sp>
        <p:nvSpPr>
          <p:cNvPr id="5" name="TextBox 4">
            <a:extLst>
              <a:ext uri="{FF2B5EF4-FFF2-40B4-BE49-F238E27FC236}">
                <a16:creationId xmlns:a16="http://schemas.microsoft.com/office/drawing/2014/main" id="{66594471-A453-FE34-8E35-56E8180041A4}"/>
              </a:ext>
            </a:extLst>
          </p:cNvPr>
          <p:cNvSpPr txBox="1"/>
          <p:nvPr/>
        </p:nvSpPr>
        <p:spPr>
          <a:xfrm>
            <a:off x="7908251" y="4650725"/>
            <a:ext cx="1870745" cy="523220"/>
          </a:xfrm>
          <a:prstGeom prst="rect">
            <a:avLst/>
          </a:prstGeom>
          <a:noFill/>
        </p:spPr>
        <p:txBody>
          <a:bodyPr wrap="square" rtlCol="0">
            <a:spAutoFit/>
          </a:bodyPr>
          <a:lstStyle/>
          <a:p>
            <a:r>
              <a:rPr lang="en-US" sz="2800">
                <a:solidFill>
                  <a:schemeClr val="bg1"/>
                </a:solidFill>
                <a:latin typeface="Calibri"/>
                <a:ea typeface="Calibri"/>
                <a:cs typeface="Calibri"/>
              </a:rPr>
              <a:t>ITAI 2277</a:t>
            </a:r>
          </a:p>
        </p:txBody>
      </p:sp>
      <p:sp>
        <p:nvSpPr>
          <p:cNvPr id="6" name="Title 3">
            <a:extLst>
              <a:ext uri="{FF2B5EF4-FFF2-40B4-BE49-F238E27FC236}">
                <a16:creationId xmlns:a16="http://schemas.microsoft.com/office/drawing/2014/main" id="{6835E78D-2012-ADB0-745B-29C616B3BD9F}"/>
              </a:ext>
            </a:extLst>
          </p:cNvPr>
          <p:cNvSpPr txBox="1">
            <a:spLocks/>
          </p:cNvSpPr>
          <p:nvPr/>
        </p:nvSpPr>
        <p:spPr>
          <a:xfrm>
            <a:off x="4229524" y="1838054"/>
            <a:ext cx="6261291" cy="2396686"/>
          </a:xfrm>
          <a:prstGeom prst="rect">
            <a:avLst/>
          </a:prstGeom>
          <a:noFill/>
        </p:spPr>
        <p:txBody>
          <a:bodyPr vert="horz" lIns="91440" tIns="45720" rIns="91440" bIns="45720" rtlCol="0" anchor="b" anchorCtr="0">
            <a:noAutofit/>
          </a:bodyPr>
          <a:lstStyle>
            <a:lvl1pPr algn="r"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latin typeface="Calibri"/>
                <a:ea typeface="Calibri"/>
                <a:cs typeface="Calibri"/>
              </a:rPr>
              <a:t>Unlock System</a:t>
            </a:r>
          </a:p>
        </p:txBody>
      </p:sp>
    </p:spTree>
    <p:extLst>
      <p:ext uri="{BB962C8B-B14F-4D97-AF65-F5344CB8AC3E}">
        <p14:creationId xmlns:p14="http://schemas.microsoft.com/office/powerpoint/2010/main" val="51742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609957" y="1119031"/>
            <a:ext cx="4384736" cy="4619938"/>
          </a:xfrm>
          <a:noFill/>
        </p:spPr>
        <p:txBody>
          <a:bodyPr>
            <a:noAutofit/>
          </a:bodyPr>
          <a:lstStyle/>
          <a:p>
            <a:r>
              <a:rPr lang="en-US">
                <a:latin typeface="Calibri"/>
                <a:ea typeface="Calibri"/>
                <a:cs typeface="Calibri"/>
              </a:rPr>
              <a:t>Table Of Contents</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801708" y="554942"/>
            <a:ext cx="5552091" cy="5768220"/>
          </a:xfrm>
          <a:noFill/>
        </p:spPr>
        <p:txBody>
          <a:bodyPr>
            <a:normAutofit/>
          </a:bodyPr>
          <a:lstStyle/>
          <a:p>
            <a:pPr marL="285750" indent="-285750">
              <a:buFont typeface="Arial"/>
              <a:buChar char="•"/>
            </a:pPr>
            <a:r>
              <a:rPr lang="en-US">
                <a:latin typeface="Calibri"/>
                <a:ea typeface="Calibri"/>
                <a:cs typeface="Calibri"/>
              </a:rPr>
              <a:t>Project Objective </a:t>
            </a:r>
          </a:p>
          <a:p>
            <a:pPr marL="285750" indent="-285750">
              <a:buFont typeface="Arial"/>
              <a:buChar char="•"/>
            </a:pPr>
            <a:r>
              <a:rPr lang="en-US">
                <a:latin typeface="Calibri"/>
                <a:ea typeface="Calibri"/>
                <a:cs typeface="Calibri"/>
              </a:rPr>
              <a:t>Feasibility Assessment </a:t>
            </a:r>
          </a:p>
          <a:p>
            <a:pPr marL="285750" indent="-285750">
              <a:buFont typeface="Arial"/>
              <a:buChar char="•"/>
            </a:pPr>
            <a:r>
              <a:rPr lang="en-US">
                <a:latin typeface="Calibri"/>
                <a:ea typeface="Calibri"/>
                <a:cs typeface="Calibri"/>
              </a:rPr>
              <a:t>Background Research  </a:t>
            </a:r>
          </a:p>
          <a:p>
            <a:pPr marL="285750" indent="-285750">
              <a:buFont typeface="Arial"/>
              <a:buChar char="•"/>
            </a:pPr>
            <a:r>
              <a:rPr lang="en-US">
                <a:latin typeface="Calibri"/>
                <a:ea typeface="Calibri"/>
                <a:cs typeface="Calibri"/>
              </a:rPr>
              <a:t>System Architecture </a:t>
            </a:r>
          </a:p>
          <a:p>
            <a:pPr marL="285750" indent="-285750">
              <a:buFont typeface="Arial"/>
              <a:buChar char="•"/>
            </a:pPr>
            <a:r>
              <a:rPr lang="en-US">
                <a:latin typeface="Calibri"/>
                <a:ea typeface="Calibri"/>
                <a:cs typeface="Calibri"/>
              </a:rPr>
              <a:t>Wireless Protocol (ESP-NOW) </a:t>
            </a:r>
          </a:p>
          <a:p>
            <a:pPr marL="285750" indent="-285750">
              <a:buFont typeface="Arial"/>
              <a:buChar char="•"/>
            </a:pPr>
            <a:r>
              <a:rPr lang="en-US">
                <a:latin typeface="Calibri"/>
                <a:ea typeface="Calibri"/>
                <a:cs typeface="Calibri"/>
              </a:rPr>
              <a:t>Hardware Cost Breakdown </a:t>
            </a:r>
          </a:p>
          <a:p>
            <a:pPr marL="285750" indent="-285750">
              <a:buFont typeface="Arial"/>
              <a:buChar char="•"/>
            </a:pPr>
            <a:r>
              <a:rPr lang="en-US">
                <a:latin typeface="Calibri"/>
                <a:ea typeface="Calibri"/>
                <a:cs typeface="Calibri"/>
              </a:rPr>
              <a:t>Logic Flow </a:t>
            </a:r>
          </a:p>
          <a:p>
            <a:pPr marL="285750" indent="-285750">
              <a:buFont typeface="Arial"/>
              <a:buChar char="•"/>
            </a:pPr>
            <a:r>
              <a:rPr lang="en-US">
                <a:latin typeface="Calibri"/>
                <a:ea typeface="Calibri"/>
                <a:cs typeface="Calibri"/>
              </a:rPr>
              <a:t>Face ID Enrollment</a:t>
            </a:r>
          </a:p>
          <a:p>
            <a:pPr marL="285750" indent="-285750">
              <a:buFont typeface="Arial"/>
              <a:buChar char="•"/>
            </a:pPr>
            <a:r>
              <a:rPr lang="en-US">
                <a:latin typeface="Calibri"/>
                <a:ea typeface="Calibri"/>
                <a:cs typeface="Calibri"/>
              </a:rPr>
              <a:t>Initial Problem Solving </a:t>
            </a:r>
          </a:p>
          <a:p>
            <a:pPr marL="285750" indent="-285750">
              <a:buFont typeface="Arial"/>
              <a:buChar char="•"/>
            </a:pPr>
            <a:r>
              <a:rPr lang="en-US">
                <a:latin typeface="Calibri"/>
                <a:ea typeface="Calibri"/>
                <a:cs typeface="Calibri"/>
              </a:rPr>
              <a:t>Conclusion &amp; Future Scope</a:t>
            </a:r>
          </a:p>
          <a:p>
            <a:endParaRPr lang="en-US">
              <a:latin typeface="Calibri"/>
              <a:ea typeface="Calibri"/>
              <a:cs typeface="Calibri"/>
            </a:endParaRPr>
          </a:p>
        </p:txBody>
      </p:sp>
    </p:spTree>
    <p:extLst>
      <p:ext uri="{BB962C8B-B14F-4D97-AF65-F5344CB8AC3E}">
        <p14:creationId xmlns:p14="http://schemas.microsoft.com/office/powerpoint/2010/main" val="3920724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838200" y="304803"/>
            <a:ext cx="10515600" cy="1472974"/>
          </a:xfrm>
          <a:noFill/>
        </p:spPr>
        <p:txBody>
          <a:bodyPr anchor="ctr"/>
          <a:lstStyle/>
          <a:p>
            <a:r>
              <a:rPr lang="en-US" sz="3600">
                <a:latin typeface="Calibri"/>
                <a:ea typeface="Calibri"/>
                <a:cs typeface="Calibri"/>
              </a:rPr>
              <a:t>Project Objective</a:t>
            </a:r>
          </a:p>
        </p:txBody>
      </p:sp>
      <p:sp>
        <p:nvSpPr>
          <p:cNvPr id="5" name="Rectangle 2">
            <a:extLst>
              <a:ext uri="{FF2B5EF4-FFF2-40B4-BE49-F238E27FC236}">
                <a16:creationId xmlns:a16="http://schemas.microsoft.com/office/drawing/2014/main" id="{8ED895BB-DF03-1D7C-6778-1B652A2EDBE3}"/>
              </a:ext>
            </a:extLst>
          </p:cNvPr>
          <p:cNvSpPr>
            <a:spLocks noGrp="1" noChangeArrowheads="1"/>
          </p:cNvSpPr>
          <p:nvPr>
            <p:ph sz="quarter" idx="13"/>
          </p:nvPr>
        </p:nvSpPr>
        <p:spPr bwMode="auto">
          <a:xfrm>
            <a:off x="838200" y="1467747"/>
            <a:ext cx="9766300" cy="4438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effectLst/>
                <a:latin typeface="Calibri"/>
                <a:ea typeface="Calibri"/>
                <a:cs typeface="Calibri"/>
              </a:rPr>
              <a:t>Modernizing Security:</a:t>
            </a:r>
            <a:r>
              <a:rPr kumimoji="0" lang="en-US" altLang="en-US" sz="1800" b="0" i="0" u="none" strike="noStrike" cap="none" normalizeH="0" baseline="0" dirty="0">
                <a:ln>
                  <a:noFill/>
                </a:ln>
                <a:effectLst/>
                <a:latin typeface="Calibri"/>
                <a:ea typeface="Calibri"/>
                <a:cs typeface="Calibri"/>
              </a:rPr>
              <a:t> The project replaces traditional key-based locks with a seamless facial recognition system to secure sensitive documents and valuables.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effectLst/>
                <a:latin typeface="Calibri"/>
                <a:ea typeface="Calibri"/>
                <a:cs typeface="Calibri"/>
              </a:rPr>
              <a:t>Eliminating Physical Keys</a:t>
            </a:r>
            <a:r>
              <a:rPr kumimoji="0" lang="en-US" altLang="en-US" sz="1800" b="0" i="0" u="none" strike="noStrike" cap="none" normalizeH="0" baseline="0" dirty="0">
                <a:ln>
                  <a:noFill/>
                </a:ln>
                <a:effectLst/>
                <a:latin typeface="Calibri"/>
                <a:ea typeface="Calibri"/>
                <a:cs typeface="Calibri"/>
              </a:rPr>
              <a:t>: By using biometrics, the system removes the vulnerability of lost or stolen physical keys.</a:t>
            </a:r>
            <a:endParaRPr lang="en-US" altLang="en-US" sz="1800" b="0" i="0" u="none" strike="noStrike" cap="none" normalizeH="0" baseline="0" dirty="0">
              <a:ln>
                <a:noFill/>
              </a:ln>
              <a:effectLst/>
              <a:latin typeface="Calibri"/>
              <a:ea typeface="Calibri"/>
              <a:cs typeface="Calibri"/>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effectLst/>
                <a:latin typeface="Calibri"/>
                <a:ea typeface="Calibri"/>
                <a:cs typeface="Calibri"/>
              </a:rPr>
              <a:t>Industry Alignment</a:t>
            </a:r>
            <a:r>
              <a:rPr kumimoji="0" lang="en-US" altLang="en-US" sz="1800" b="0" i="0" u="none" strike="noStrike" cap="none" normalizeH="0" baseline="0" dirty="0">
                <a:ln>
                  <a:noFill/>
                </a:ln>
                <a:effectLst/>
                <a:latin typeface="Calibri"/>
                <a:ea typeface="Calibri"/>
                <a:cs typeface="Calibri"/>
              </a:rPr>
              <a:t>: The design responds to a growing market trend toward contactless, IoT-integrated security in residential and commercial sectors.</a:t>
            </a:r>
            <a:endParaRPr lang="en-US" altLang="en-US" sz="1800" b="0" i="0" u="none" strike="noStrike" cap="none" normalizeH="0" baseline="0" dirty="0">
              <a:ln>
                <a:noFill/>
              </a:ln>
              <a:effectLst/>
              <a:latin typeface="Calibri"/>
              <a:ea typeface="Calibri"/>
              <a:cs typeface="Calibri"/>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Calibri"/>
                <a:ea typeface="Calibri"/>
                <a:cs typeface="Calibri"/>
              </a:rPr>
              <a:t>Efficiency at the Edge</a:t>
            </a:r>
            <a:r>
              <a:rPr kumimoji="0" lang="en-US" altLang="en-US" sz="1800" b="0" i="0" u="none" strike="noStrike" cap="none" normalizeH="0" baseline="0">
                <a:ln>
                  <a:noFill/>
                </a:ln>
                <a:solidFill>
                  <a:schemeClr val="tx1"/>
                </a:solidFill>
                <a:effectLst/>
                <a:latin typeface="Calibri"/>
                <a:ea typeface="Calibri"/>
                <a:cs typeface="Calibri"/>
              </a:rPr>
              <a:t>: Utilizing the ESP32-S3 allows for "instant-on" facial recognition locally, meaning it doesn't rely on a constant internet connection to function.</a:t>
            </a:r>
          </a:p>
        </p:txBody>
      </p: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CD968-486E-2A0D-7706-20D3DD5E9DAA}"/>
              </a:ext>
            </a:extLst>
          </p:cNvPr>
          <p:cNvSpPr>
            <a:spLocks noGrp="1"/>
          </p:cNvSpPr>
          <p:nvPr>
            <p:ph type="title"/>
          </p:nvPr>
        </p:nvSpPr>
        <p:spPr>
          <a:xfrm>
            <a:off x="5764260" y="374075"/>
            <a:ext cx="5728085" cy="6106552"/>
          </a:xfrm>
        </p:spPr>
        <p:txBody>
          <a:bodyPr anchor="ctr">
            <a:normAutofit fontScale="90000"/>
          </a:bodyPr>
          <a:lstStyle/>
          <a:p>
            <a:endParaRPr lang="en-US" sz="1100"/>
          </a:p>
          <a:p>
            <a:endParaRPr lang="en-US" sz="1100"/>
          </a:p>
          <a:p>
            <a:endParaRPr lang="en-US" sz="1100"/>
          </a:p>
          <a:p>
            <a:endParaRPr lang="en-US" sz="1100"/>
          </a:p>
          <a:p>
            <a:endParaRPr lang="en-US" sz="1100"/>
          </a:p>
          <a:p>
            <a:pPr marL="342900" indent="-342900">
              <a:lnSpc>
                <a:spcPct val="150000"/>
              </a:lnSpc>
              <a:buFont typeface="Arial"/>
              <a:buChar char="•"/>
            </a:pPr>
            <a:r>
              <a:rPr lang="en-US" sz="2400" b="1" dirty="0">
                <a:latin typeface="Calibri"/>
                <a:ea typeface="Calibri"/>
                <a:cs typeface="Calibri"/>
              </a:rPr>
              <a:t>Technical Viability:</a:t>
            </a:r>
            <a:r>
              <a:rPr lang="en-US" sz="2400" dirty="0">
                <a:latin typeface="Calibri"/>
                <a:ea typeface="Calibri"/>
                <a:cs typeface="Calibri"/>
              </a:rPr>
              <a:t> ESP32-S3 microcontrollers perform on-device facial detection at "the edge" for instant response.</a:t>
            </a:r>
          </a:p>
          <a:p>
            <a:pPr marL="342900" indent="-342900">
              <a:lnSpc>
                <a:spcPct val="150000"/>
              </a:lnSpc>
              <a:buFont typeface="Arial"/>
              <a:buChar char="•"/>
            </a:pPr>
            <a:r>
              <a:rPr lang="en-US" sz="2400" b="1" dirty="0">
                <a:latin typeface="Calibri"/>
                <a:ea typeface="Calibri"/>
                <a:cs typeface="Calibri"/>
              </a:rPr>
              <a:t>Performance Comparison:</a:t>
            </a:r>
            <a:r>
              <a:rPr lang="en-US" sz="2400" dirty="0">
                <a:latin typeface="Calibri"/>
                <a:ea typeface="Calibri"/>
                <a:cs typeface="Calibri"/>
              </a:rPr>
              <a:t> Unlike the Raspberry Pi, the ESP32-S3 is optimized for battery-operated furniture due to its low power consumption.</a:t>
            </a:r>
          </a:p>
          <a:p>
            <a:pPr marL="342900" indent="-342900">
              <a:lnSpc>
                <a:spcPct val="150000"/>
              </a:lnSpc>
              <a:buFont typeface="Arial"/>
              <a:buChar char="•"/>
            </a:pPr>
            <a:r>
              <a:rPr lang="en-US" sz="2400" b="1" dirty="0">
                <a:latin typeface="Calibri"/>
                <a:ea typeface="Calibri"/>
                <a:cs typeface="Calibri"/>
              </a:rPr>
              <a:t>Mechanical Integration:</a:t>
            </a:r>
            <a:r>
              <a:rPr lang="en-US" sz="2400" dirty="0">
                <a:latin typeface="Calibri"/>
                <a:ea typeface="Calibri"/>
                <a:cs typeface="Calibri"/>
              </a:rPr>
              <a:t> Standard 12V solenoid locks offer a secure, "fail-secure" barrier easily fitted to wooden frames.</a:t>
            </a:r>
          </a:p>
          <a:p>
            <a:pPr marL="342900" indent="-342900">
              <a:buFont typeface="Arial"/>
              <a:buChar char="•"/>
            </a:pPr>
            <a:endParaRPr lang="en-US" sz="2400">
              <a:latin typeface="Calibri"/>
              <a:ea typeface="Calibri"/>
              <a:cs typeface="Calibri"/>
            </a:endParaRPr>
          </a:p>
          <a:p>
            <a:pPr marL="342900" indent="-342900">
              <a:buFont typeface="Arial"/>
              <a:buChar char="•"/>
            </a:pPr>
            <a:endParaRPr lang="en-US" sz="2400"/>
          </a:p>
          <a:p>
            <a:pPr marL="342900" indent="-342900">
              <a:buFont typeface="Arial"/>
              <a:buChar char="•"/>
            </a:pPr>
            <a:endParaRPr lang="en-US" sz="2400"/>
          </a:p>
          <a:p>
            <a:pPr marL="342900" indent="-342900">
              <a:buFont typeface="Arial"/>
              <a:buChar char="•"/>
            </a:pPr>
            <a:endParaRPr lang="en-US" sz="2400"/>
          </a:p>
        </p:txBody>
      </p:sp>
      <p:pic>
        <p:nvPicPr>
          <p:cNvPr id="5" name="Picture 4">
            <a:extLst>
              <a:ext uri="{FF2B5EF4-FFF2-40B4-BE49-F238E27FC236}">
                <a16:creationId xmlns:a16="http://schemas.microsoft.com/office/drawing/2014/main" id="{6D2EB263-135D-D90A-9F6C-672116049C03}"/>
              </a:ext>
            </a:extLst>
          </p:cNvPr>
          <p:cNvPicPr>
            <a:picLocks noChangeAspect="1"/>
          </p:cNvPicPr>
          <p:nvPr/>
        </p:nvPicPr>
        <p:blipFill>
          <a:blip r:embed="rId2"/>
          <a:stretch>
            <a:fillRect/>
          </a:stretch>
        </p:blipFill>
        <p:spPr>
          <a:xfrm>
            <a:off x="474801" y="1847728"/>
            <a:ext cx="4678186" cy="3748425"/>
          </a:xfrm>
          <a:prstGeom prst="rect">
            <a:avLst/>
          </a:prstGeom>
        </p:spPr>
      </p:pic>
      <p:sp>
        <p:nvSpPr>
          <p:cNvPr id="7" name="Title 1">
            <a:extLst>
              <a:ext uri="{FF2B5EF4-FFF2-40B4-BE49-F238E27FC236}">
                <a16:creationId xmlns:a16="http://schemas.microsoft.com/office/drawing/2014/main" id="{79CF56C1-F957-BFA7-46AB-94F5A6997B65}"/>
              </a:ext>
            </a:extLst>
          </p:cNvPr>
          <p:cNvSpPr txBox="1">
            <a:spLocks/>
          </p:cNvSpPr>
          <p:nvPr/>
        </p:nvSpPr>
        <p:spPr>
          <a:xfrm>
            <a:off x="373251" y="375837"/>
            <a:ext cx="5168685" cy="1472974"/>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latin typeface="Calibri"/>
                <a:ea typeface="+mj-lt"/>
                <a:cs typeface="+mj-lt"/>
              </a:rPr>
              <a:t>Feasibility Assessment</a:t>
            </a:r>
            <a:endParaRPr lang="en-US" sz="3600" b="1">
              <a:latin typeface="Calibri"/>
              <a:ea typeface="Calibri"/>
              <a:cs typeface="Calibri"/>
            </a:endParaRPr>
          </a:p>
        </p:txBody>
      </p:sp>
    </p:spTree>
    <p:extLst>
      <p:ext uri="{BB962C8B-B14F-4D97-AF65-F5344CB8AC3E}">
        <p14:creationId xmlns:p14="http://schemas.microsoft.com/office/powerpoint/2010/main" val="3867164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B6DE-CC7F-BF58-B1FB-0B3B1DBEED41}"/>
              </a:ext>
            </a:extLst>
          </p:cNvPr>
          <p:cNvSpPr>
            <a:spLocks noGrp="1"/>
          </p:cNvSpPr>
          <p:nvPr>
            <p:ph type="title"/>
          </p:nvPr>
        </p:nvSpPr>
        <p:spPr>
          <a:xfrm>
            <a:off x="241169" y="176589"/>
            <a:ext cx="4388178" cy="1341274"/>
          </a:xfrm>
        </p:spPr>
        <p:txBody>
          <a:bodyPr anchor="ctr">
            <a:normAutofit/>
          </a:bodyPr>
          <a:lstStyle/>
          <a:p>
            <a:r>
              <a:rPr lang="en-US" sz="3600">
                <a:latin typeface="Calibri"/>
                <a:ea typeface="Calibri"/>
                <a:cs typeface="Calibri"/>
              </a:rPr>
              <a:t>Background Research</a:t>
            </a:r>
          </a:p>
        </p:txBody>
      </p:sp>
      <p:sp>
        <p:nvSpPr>
          <p:cNvPr id="3" name="Content Placeholder 2">
            <a:extLst>
              <a:ext uri="{FF2B5EF4-FFF2-40B4-BE49-F238E27FC236}">
                <a16:creationId xmlns:a16="http://schemas.microsoft.com/office/drawing/2014/main" id="{BEBCF890-36D8-3279-EF87-B17DD4A562E7}"/>
              </a:ext>
            </a:extLst>
          </p:cNvPr>
          <p:cNvSpPr>
            <a:spLocks noGrp="1"/>
          </p:cNvSpPr>
          <p:nvPr>
            <p:ph sz="half" idx="13"/>
          </p:nvPr>
        </p:nvSpPr>
        <p:spPr>
          <a:xfrm>
            <a:off x="241169" y="1519254"/>
            <a:ext cx="6007231" cy="4297680"/>
          </a:xfrm>
        </p:spPr>
        <p:txBody>
          <a:bodyPr vert="horz" lIns="91440" tIns="45720" rIns="91440" bIns="45720" rtlCol="0" anchor="t">
            <a:normAutofit/>
          </a:bodyPr>
          <a:lstStyle/>
          <a:p>
            <a:pPr>
              <a:buNone/>
            </a:pPr>
            <a:r>
              <a:rPr lang="en-US" b="1">
                <a:latin typeface="Calibri"/>
                <a:ea typeface="Calibri"/>
                <a:cs typeface="Calibri"/>
              </a:rPr>
              <a:t>Industry Market Trends:</a:t>
            </a:r>
            <a:endParaRPr lang="en-US">
              <a:latin typeface="Calibri"/>
              <a:ea typeface="Calibri"/>
              <a:cs typeface="Calibri"/>
            </a:endParaRPr>
          </a:p>
          <a:p>
            <a:pPr>
              <a:buFont typeface="Arial"/>
              <a:buChar char="•"/>
            </a:pPr>
            <a:r>
              <a:rPr lang="en-US" b="1">
                <a:latin typeface="Calibri"/>
                <a:ea typeface="Calibri"/>
                <a:cs typeface="Calibri"/>
              </a:rPr>
              <a:t>Market Valuation:</a:t>
            </a:r>
            <a:r>
              <a:rPr lang="en-US">
                <a:latin typeface="Calibri"/>
                <a:ea typeface="Calibri"/>
                <a:cs typeface="Calibri"/>
              </a:rPr>
              <a:t> The biometric safes and smart locker industry is projected to reach approximately </a:t>
            </a:r>
            <a:r>
              <a:rPr lang="en-US" b="1">
                <a:latin typeface="Calibri"/>
                <a:ea typeface="Calibri"/>
                <a:cs typeface="Calibri"/>
              </a:rPr>
              <a:t>$2.98 billion by 2033</a:t>
            </a:r>
            <a:r>
              <a:rPr lang="en-US">
                <a:latin typeface="Calibri"/>
                <a:ea typeface="Calibri"/>
                <a:cs typeface="Calibri"/>
              </a:rPr>
              <a:t>, reflecting a steady </a:t>
            </a:r>
            <a:r>
              <a:rPr lang="en-US" b="1">
                <a:latin typeface="Calibri"/>
                <a:ea typeface="Calibri"/>
                <a:cs typeface="Calibri"/>
              </a:rPr>
              <a:t>10.4% Compound Annual Growth Rate (CAGR)</a:t>
            </a:r>
            <a:r>
              <a:rPr lang="en-US">
                <a:latin typeface="Calibri"/>
                <a:ea typeface="Calibri"/>
                <a:cs typeface="Calibri"/>
              </a:rPr>
              <a:t>.</a:t>
            </a:r>
          </a:p>
          <a:p>
            <a:pPr>
              <a:buFont typeface="Arial"/>
              <a:buChar char="•"/>
            </a:pPr>
            <a:r>
              <a:rPr lang="en-US" b="1">
                <a:latin typeface="Calibri"/>
                <a:ea typeface="Calibri"/>
                <a:cs typeface="Calibri"/>
              </a:rPr>
              <a:t>Security Evolution:</a:t>
            </a:r>
            <a:r>
              <a:rPr lang="en-US">
                <a:latin typeface="Calibri"/>
                <a:ea typeface="Calibri"/>
                <a:cs typeface="Calibri"/>
              </a:rPr>
              <a:t> There is a global shift away from traditional mechanical keys toward </a:t>
            </a:r>
            <a:r>
              <a:rPr lang="en-US" b="1">
                <a:latin typeface="Calibri"/>
                <a:ea typeface="Calibri"/>
                <a:cs typeface="Calibri"/>
              </a:rPr>
              <a:t>contactless and IoT-integrated biometric authentication</a:t>
            </a:r>
            <a:r>
              <a:rPr lang="en-US">
                <a:latin typeface="Calibri"/>
                <a:ea typeface="Calibri"/>
                <a:cs typeface="Calibri"/>
              </a:rPr>
              <a:t> in both residential and high-security commercial sectors.</a:t>
            </a:r>
          </a:p>
          <a:p>
            <a:pPr>
              <a:buFont typeface="Arial"/>
              <a:buChar char="•"/>
            </a:pPr>
            <a:r>
              <a:rPr lang="en-US" b="1">
                <a:latin typeface="Calibri"/>
                <a:ea typeface="Calibri"/>
                <a:cs typeface="Calibri"/>
              </a:rPr>
              <a:t>Edge Computing Adoption:</a:t>
            </a:r>
            <a:r>
              <a:rPr lang="en-US">
                <a:latin typeface="Calibri"/>
                <a:ea typeface="Calibri"/>
                <a:cs typeface="Calibri"/>
              </a:rPr>
              <a:t> Modern security designs are increasingly moving toward </a:t>
            </a:r>
            <a:r>
              <a:rPr lang="en-US" b="1">
                <a:latin typeface="Calibri"/>
                <a:ea typeface="Calibri"/>
                <a:cs typeface="Calibri"/>
              </a:rPr>
              <a:t>"Edge AI"</a:t>
            </a:r>
            <a:r>
              <a:rPr lang="en-US">
                <a:latin typeface="Calibri"/>
                <a:ea typeface="Calibri"/>
                <a:cs typeface="Calibri"/>
              </a:rPr>
              <a:t> (processing data locally on the device) to enhance user privacy and ensure the system functions during network outages.</a:t>
            </a:r>
          </a:p>
          <a:p>
            <a:pPr marL="0" indent="0">
              <a:buNone/>
            </a:pPr>
            <a:endParaRPr lang="en-US">
              <a:latin typeface="Calibri"/>
              <a:ea typeface="Calibri"/>
              <a:cs typeface="Calibri"/>
            </a:endParaRPr>
          </a:p>
        </p:txBody>
      </p:sp>
      <p:pic>
        <p:nvPicPr>
          <p:cNvPr id="5" name="Picture 4">
            <a:extLst>
              <a:ext uri="{FF2B5EF4-FFF2-40B4-BE49-F238E27FC236}">
                <a16:creationId xmlns:a16="http://schemas.microsoft.com/office/drawing/2014/main" id="{F1DD07B3-AE46-8E17-24E6-879667CBEBD4}"/>
              </a:ext>
            </a:extLst>
          </p:cNvPr>
          <p:cNvPicPr>
            <a:picLocks noChangeAspect="1"/>
          </p:cNvPicPr>
          <p:nvPr/>
        </p:nvPicPr>
        <p:blipFill>
          <a:blip r:embed="rId2"/>
          <a:stretch>
            <a:fillRect/>
          </a:stretch>
        </p:blipFill>
        <p:spPr>
          <a:xfrm>
            <a:off x="6803235" y="1820445"/>
            <a:ext cx="4550564" cy="3750288"/>
          </a:xfrm>
          <a:prstGeom prst="rect">
            <a:avLst/>
          </a:prstGeom>
          <a:noFill/>
        </p:spPr>
      </p:pic>
    </p:spTree>
    <p:extLst>
      <p:ext uri="{BB962C8B-B14F-4D97-AF65-F5344CB8AC3E}">
        <p14:creationId xmlns:p14="http://schemas.microsoft.com/office/powerpoint/2010/main" val="2793671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F09403C-B2A7-D0F4-1CD7-91EB6B18D8BC}"/>
              </a:ext>
            </a:extLst>
          </p:cNvPr>
          <p:cNvSpPr txBox="1"/>
          <p:nvPr/>
        </p:nvSpPr>
        <p:spPr>
          <a:xfrm>
            <a:off x="-58723" y="0"/>
            <a:ext cx="12250723" cy="6941642"/>
          </a:xfrm>
          <a:prstGeom prst="rect">
            <a:avLst/>
          </a:prstGeom>
          <a:solidFill>
            <a:schemeClr val="bg1"/>
          </a:solidFill>
        </p:spPr>
        <p:txBody>
          <a:bodyPr wrap="square" rtlCol="0">
            <a:spAutoFit/>
          </a:bodyPr>
          <a:lstStyle/>
          <a:p>
            <a:endParaRPr lang="en-US"/>
          </a:p>
        </p:txBody>
      </p:sp>
      <p:pic>
        <p:nvPicPr>
          <p:cNvPr id="1026" name="Picture 2">
            <a:extLst>
              <a:ext uri="{FF2B5EF4-FFF2-40B4-BE49-F238E27FC236}">
                <a16:creationId xmlns:a16="http://schemas.microsoft.com/office/drawing/2014/main" id="{704BA369-5E64-B76C-A1C4-16A3678430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729" y="2274957"/>
            <a:ext cx="5154307" cy="390094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42EE647-41F2-8C12-1DFD-51C6FD840664}"/>
              </a:ext>
            </a:extLst>
          </p:cNvPr>
          <p:cNvSpPr txBox="1"/>
          <p:nvPr/>
        </p:nvSpPr>
        <p:spPr>
          <a:xfrm>
            <a:off x="6357575" y="117386"/>
            <a:ext cx="5603491" cy="6740307"/>
          </a:xfrm>
          <a:prstGeom prst="rect">
            <a:avLst/>
          </a:prstGeom>
          <a:noFill/>
        </p:spPr>
        <p:txBody>
          <a:bodyPr wrap="square" lIns="91440" tIns="45720" rIns="91440" bIns="45720" rtlCol="0" anchor="t">
            <a:spAutoFit/>
          </a:bodyPr>
          <a:lstStyle/>
          <a:p>
            <a:pPr fontAlgn="base"/>
            <a:r>
              <a:rPr lang="en-US" b="1">
                <a:latin typeface="Calibri"/>
                <a:ea typeface="Calibri"/>
                <a:cs typeface="Calibri"/>
              </a:rPr>
              <a:t>Compute:</a:t>
            </a:r>
            <a:r>
              <a:rPr lang="en-US">
                <a:latin typeface="Calibri"/>
                <a:ea typeface="Calibri"/>
                <a:cs typeface="Calibri"/>
              </a:rPr>
              <a:t> Dual-Microcontroller Setup: The system operates using two independent ESP32 nodes. </a:t>
            </a:r>
            <a:endParaRPr lang="en-US">
              <a:latin typeface="Avenir Next LT Pro Light"/>
              <a:ea typeface="Calibri"/>
              <a:cs typeface="Calibri"/>
            </a:endParaRPr>
          </a:p>
          <a:p>
            <a:pPr marL="285750" indent="-285750">
              <a:buFont typeface="Arial"/>
              <a:buChar char="•"/>
            </a:pPr>
            <a:r>
              <a:rPr lang="en-US">
                <a:latin typeface="Calibri"/>
                <a:ea typeface="Calibri"/>
                <a:cs typeface="Calibri"/>
              </a:rPr>
              <a:t>Transmitter (XIAO ESP32-S3 Sense): Primary camera node for biometric capture and processing. </a:t>
            </a:r>
            <a:endParaRPr lang="en-US">
              <a:latin typeface="Avenir Next LT Pro Light"/>
              <a:ea typeface="Calibri"/>
              <a:cs typeface="Calibri"/>
            </a:endParaRPr>
          </a:p>
          <a:p>
            <a:pPr marL="285750" indent="-285750">
              <a:buFont typeface="Arial"/>
              <a:buChar char="•"/>
            </a:pPr>
            <a:r>
              <a:rPr lang="en-US">
                <a:latin typeface="Calibri"/>
                <a:ea typeface="Calibri"/>
                <a:cs typeface="Calibri"/>
              </a:rPr>
              <a:t>Receiver (ESP32-S3 </a:t>
            </a:r>
            <a:r>
              <a:rPr lang="en-US" err="1">
                <a:latin typeface="Calibri"/>
                <a:ea typeface="Calibri"/>
                <a:cs typeface="Calibri"/>
              </a:rPr>
              <a:t>DevKit</a:t>
            </a:r>
            <a:r>
              <a:rPr lang="en-US">
                <a:latin typeface="Calibri"/>
                <a:ea typeface="Calibri"/>
                <a:cs typeface="Calibri"/>
              </a:rPr>
              <a:t>): Dedicated node for managing lock actuation and security logic.</a:t>
            </a:r>
            <a:endParaRPr lang="en-US"/>
          </a:p>
          <a:p>
            <a:pPr fontAlgn="base"/>
            <a:r>
              <a:rPr lang="en-US" b="1">
                <a:latin typeface="Calibri"/>
                <a:ea typeface="Calibri"/>
                <a:cs typeface="Calibri"/>
              </a:rPr>
              <a:t>Optics:</a:t>
            </a:r>
            <a:r>
              <a:rPr lang="en-US">
                <a:latin typeface="Calibri"/>
                <a:ea typeface="Calibri"/>
                <a:cs typeface="Calibri"/>
              </a:rPr>
              <a:t> OV2640 camera module integrated within the ESP32-S3 Sense. </a:t>
            </a:r>
          </a:p>
          <a:p>
            <a:pPr fontAlgn="base"/>
            <a:r>
              <a:rPr lang="en-US" b="1">
                <a:latin typeface="Calibri"/>
                <a:ea typeface="Calibri"/>
                <a:cs typeface="Calibri"/>
              </a:rPr>
              <a:t>Actuation:</a:t>
            </a:r>
            <a:r>
              <a:rPr lang="en-US">
                <a:latin typeface="Calibri"/>
                <a:ea typeface="Calibri"/>
                <a:cs typeface="Calibri"/>
              </a:rPr>
              <a:t> 12V DC Solenoid Cabinet Lock and a 5V Relay Module.</a:t>
            </a:r>
            <a:endParaRPr lang="en-US">
              <a:solidFill>
                <a:srgbClr val="000000"/>
              </a:solidFill>
              <a:latin typeface="Calibri"/>
              <a:ea typeface="Calibri"/>
              <a:cs typeface="Calibri"/>
            </a:endParaRPr>
          </a:p>
          <a:p>
            <a:pPr fontAlgn="base"/>
            <a:r>
              <a:rPr lang="en-US" b="1">
                <a:latin typeface="Calibri"/>
                <a:ea typeface="Calibri"/>
                <a:cs typeface="Calibri"/>
              </a:rPr>
              <a:t>Power:</a:t>
            </a:r>
            <a:r>
              <a:rPr lang="en-US">
                <a:latin typeface="Calibri"/>
                <a:ea typeface="Calibri"/>
                <a:cs typeface="Calibri"/>
              </a:rPr>
              <a:t> 12V 2A Power Adapter and a Buck Converter (12V to 5V).</a:t>
            </a:r>
          </a:p>
          <a:p>
            <a:r>
              <a:rPr lang="en-US" b="1">
                <a:latin typeface="Calibri"/>
                <a:ea typeface="Calibri"/>
                <a:cs typeface="Calibri"/>
              </a:rPr>
              <a:t>Software &amp; Compute Resources</a:t>
            </a:r>
          </a:p>
          <a:p>
            <a:pPr fontAlgn="base"/>
            <a:r>
              <a:rPr lang="en-US" b="1">
                <a:latin typeface="Calibri"/>
                <a:ea typeface="Calibri"/>
                <a:cs typeface="Calibri"/>
              </a:rPr>
              <a:t>Software Stack:</a:t>
            </a:r>
            <a:r>
              <a:rPr lang="en-US">
                <a:latin typeface="Calibri"/>
                <a:ea typeface="Calibri"/>
                <a:cs typeface="Calibri"/>
              </a:rPr>
              <a:t> C++ for real-time edge performance and Python for data processing.</a:t>
            </a:r>
          </a:p>
          <a:p>
            <a:r>
              <a:rPr lang="en-US" b="1">
                <a:latin typeface="Calibri"/>
                <a:ea typeface="Calibri"/>
                <a:cs typeface="Calibri"/>
              </a:rPr>
              <a:t>Core Libraries:</a:t>
            </a:r>
            <a:r>
              <a:rPr lang="en-US">
                <a:latin typeface="Calibri"/>
                <a:ea typeface="Calibri"/>
                <a:cs typeface="Calibri"/>
              </a:rPr>
              <a:t> ESP-WHO (biometrics) for the ESP32-S3 Sense, ESP-NOW (wireless communication), and OpenCV (image processing) for enrolling the face IDs.</a:t>
            </a:r>
            <a:endParaRPr lang="en-US"/>
          </a:p>
          <a:p>
            <a:r>
              <a:rPr lang="en-US" b="1">
                <a:latin typeface="Calibri"/>
                <a:ea typeface="Calibri"/>
                <a:cs typeface="Calibri"/>
              </a:rPr>
              <a:t>Development Platform:</a:t>
            </a:r>
            <a:r>
              <a:rPr lang="en-US">
                <a:latin typeface="Calibri"/>
                <a:ea typeface="Calibri"/>
                <a:cs typeface="Calibri"/>
              </a:rPr>
              <a:t> Arduino IDE</a:t>
            </a:r>
            <a:endParaRPr lang="en-US" u="sng">
              <a:latin typeface="Avenir Next LT Pro Light"/>
              <a:ea typeface="Calibri"/>
              <a:cs typeface="Calibri"/>
            </a:endParaRPr>
          </a:p>
          <a:p>
            <a:r>
              <a:rPr lang="en-US" b="1">
                <a:latin typeface="Calibri"/>
                <a:ea typeface="Calibri"/>
                <a:cs typeface="Calibri"/>
              </a:rPr>
              <a:t>Data Requirements</a:t>
            </a:r>
            <a:endParaRPr lang="en-US"/>
          </a:p>
          <a:p>
            <a:pPr fontAlgn="base"/>
            <a:r>
              <a:rPr lang="en-US" b="1">
                <a:latin typeface="Calibri"/>
                <a:ea typeface="Calibri"/>
                <a:cs typeface="Calibri"/>
              </a:rPr>
              <a:t>Training Set:</a:t>
            </a:r>
            <a:r>
              <a:rPr lang="en-US">
                <a:latin typeface="Calibri"/>
                <a:ea typeface="Calibri"/>
                <a:cs typeface="Calibri"/>
              </a:rPr>
              <a:t> A small database of "Authorized Face Encodings." This requires high-resolution images of the primary user at various angles and lighting conditions to ensure reliability.</a:t>
            </a:r>
          </a:p>
        </p:txBody>
      </p:sp>
      <p:sp>
        <p:nvSpPr>
          <p:cNvPr id="3" name="TextBox 11">
            <a:extLst>
              <a:ext uri="{FF2B5EF4-FFF2-40B4-BE49-F238E27FC236}">
                <a16:creationId xmlns:a16="http://schemas.microsoft.com/office/drawing/2014/main" id="{114BEDA0-399B-E9EF-CA2E-CC1DE89C8B88}"/>
              </a:ext>
            </a:extLst>
          </p:cNvPr>
          <p:cNvSpPr txBox="1"/>
          <p:nvPr/>
        </p:nvSpPr>
        <p:spPr>
          <a:xfrm>
            <a:off x="903003" y="604779"/>
            <a:ext cx="4499850" cy="64633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a:latin typeface="Calibri"/>
                <a:ea typeface="Calibri"/>
                <a:cs typeface="Calibri"/>
              </a:rPr>
              <a:t>System Architecture</a:t>
            </a:r>
          </a:p>
        </p:txBody>
      </p:sp>
    </p:spTree>
    <p:extLst>
      <p:ext uri="{BB962C8B-B14F-4D97-AF65-F5344CB8AC3E}">
        <p14:creationId xmlns:p14="http://schemas.microsoft.com/office/powerpoint/2010/main" val="363098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14E06-6F65-114E-3E01-6BC7EA59B610}"/>
              </a:ext>
            </a:extLst>
          </p:cNvPr>
          <p:cNvSpPr>
            <a:spLocks noGrp="1"/>
          </p:cNvSpPr>
          <p:nvPr>
            <p:ph type="title"/>
          </p:nvPr>
        </p:nvSpPr>
        <p:spPr>
          <a:xfrm>
            <a:off x="838200" y="365125"/>
            <a:ext cx="10515600" cy="1325563"/>
          </a:xfrm>
        </p:spPr>
        <p:txBody>
          <a:bodyPr anchor="ctr">
            <a:normAutofit/>
          </a:bodyPr>
          <a:lstStyle/>
          <a:p>
            <a:r>
              <a:rPr lang="en-US">
                <a:latin typeface="Calibri"/>
                <a:ea typeface="Calibri"/>
                <a:cs typeface="Calibri"/>
              </a:rPr>
              <a:t>Wireless Protocol: ESP-NOW</a:t>
            </a:r>
          </a:p>
        </p:txBody>
      </p:sp>
      <p:sp>
        <p:nvSpPr>
          <p:cNvPr id="3" name="Content Placeholder 2">
            <a:extLst>
              <a:ext uri="{FF2B5EF4-FFF2-40B4-BE49-F238E27FC236}">
                <a16:creationId xmlns:a16="http://schemas.microsoft.com/office/drawing/2014/main" id="{EA04497E-D7C9-67FF-4272-17458D39A71C}"/>
              </a:ext>
            </a:extLst>
          </p:cNvPr>
          <p:cNvSpPr>
            <a:spLocks noGrp="1"/>
          </p:cNvSpPr>
          <p:nvPr>
            <p:ph sz="half" idx="1"/>
          </p:nvPr>
        </p:nvSpPr>
        <p:spPr>
          <a:xfrm>
            <a:off x="838200" y="1825625"/>
            <a:ext cx="4915163" cy="4297680"/>
          </a:xfrm>
        </p:spPr>
        <p:txBody>
          <a:bodyPr vert="horz" lIns="91440" tIns="45720" rIns="91440" bIns="45720" rtlCol="0" anchor="t">
            <a:normAutofit/>
          </a:bodyPr>
          <a:lstStyle/>
          <a:p>
            <a:r>
              <a:rPr lang="en-US" b="1">
                <a:latin typeface="Calibri"/>
                <a:ea typeface="Calibri"/>
                <a:cs typeface="Calibri"/>
              </a:rPr>
              <a:t>Protocol Choice:</a:t>
            </a:r>
            <a:r>
              <a:rPr lang="en-US">
                <a:latin typeface="Calibri"/>
                <a:ea typeface="Calibri"/>
                <a:cs typeface="Calibri"/>
              </a:rPr>
              <a:t> Utilizes ESP-NOW, a high-speed, 2.4GHz connection protocol.</a:t>
            </a:r>
          </a:p>
          <a:p>
            <a:r>
              <a:rPr lang="en-US" b="1">
                <a:latin typeface="Calibri"/>
                <a:ea typeface="Calibri"/>
                <a:cs typeface="Calibri"/>
              </a:rPr>
              <a:t>Low Latency:</a:t>
            </a:r>
            <a:r>
              <a:rPr lang="en-US">
                <a:latin typeface="Calibri"/>
                <a:ea typeface="Calibri"/>
                <a:cs typeface="Calibri"/>
              </a:rPr>
              <a:t> Eliminates router handshake time, allowing the transmitter to trigger the lock in under a second.</a:t>
            </a:r>
          </a:p>
          <a:p>
            <a:r>
              <a:rPr lang="en-US" b="1">
                <a:latin typeface="Calibri"/>
                <a:ea typeface="Calibri"/>
                <a:cs typeface="Calibri"/>
              </a:rPr>
              <a:t>Security:</a:t>
            </a:r>
            <a:r>
              <a:rPr lang="en-US">
                <a:latin typeface="Calibri"/>
                <a:ea typeface="Calibri"/>
                <a:cs typeface="Calibri"/>
              </a:rPr>
              <a:t> Employs direct MAC-address pairing between the camera unit and the drawer unit.</a:t>
            </a:r>
          </a:p>
          <a:p>
            <a:endParaRPr lang="en-US"/>
          </a:p>
        </p:txBody>
      </p:sp>
      <p:pic>
        <p:nvPicPr>
          <p:cNvPr id="4" name="Picture 3">
            <a:extLst>
              <a:ext uri="{FF2B5EF4-FFF2-40B4-BE49-F238E27FC236}">
                <a16:creationId xmlns:a16="http://schemas.microsoft.com/office/drawing/2014/main" id="{71477A76-A9E6-CC43-9232-2363460B0FCD}"/>
              </a:ext>
            </a:extLst>
          </p:cNvPr>
          <p:cNvPicPr>
            <a:picLocks noChangeAspect="1"/>
          </p:cNvPicPr>
          <p:nvPr/>
        </p:nvPicPr>
        <p:blipFill>
          <a:blip r:embed="rId2"/>
          <a:stretch>
            <a:fillRect/>
          </a:stretch>
        </p:blipFill>
        <p:spPr>
          <a:xfrm>
            <a:off x="6265386" y="1483924"/>
            <a:ext cx="4924917" cy="4973838"/>
          </a:xfrm>
          <a:prstGeom prst="rect">
            <a:avLst/>
          </a:prstGeom>
          <a:noFill/>
        </p:spPr>
      </p:pic>
    </p:spTree>
    <p:extLst>
      <p:ext uri="{BB962C8B-B14F-4D97-AF65-F5344CB8AC3E}">
        <p14:creationId xmlns:p14="http://schemas.microsoft.com/office/powerpoint/2010/main" val="1183926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584200" y="365125"/>
            <a:ext cx="5285806" cy="1345100"/>
          </a:xfrm>
          <a:noFill/>
        </p:spPr>
        <p:txBody>
          <a:bodyPr anchor="ctr"/>
          <a:lstStyle/>
          <a:p>
            <a:r>
              <a:rPr lang="en-US" sz="3600" b="1">
                <a:latin typeface="Calibri"/>
                <a:ea typeface="Calibri"/>
                <a:cs typeface="Calibri"/>
              </a:rPr>
              <a:t>Hardware Cost Breakdown</a:t>
            </a:r>
          </a:p>
        </p:txBody>
      </p:sp>
      <p:graphicFrame>
        <p:nvGraphicFramePr>
          <p:cNvPr id="11" name="Content Placeholder 5">
            <a:extLst>
              <a:ext uri="{FF2B5EF4-FFF2-40B4-BE49-F238E27FC236}">
                <a16:creationId xmlns:a16="http://schemas.microsoft.com/office/drawing/2014/main" id="{80B76524-0943-5BC1-E4BF-943E395FF862}"/>
              </a:ext>
            </a:extLst>
          </p:cNvPr>
          <p:cNvGraphicFramePr>
            <a:graphicFrameLocks noGrp="1"/>
          </p:cNvGraphicFramePr>
          <p:nvPr>
            <p:ph sz="half" idx="1"/>
            <p:extLst>
              <p:ext uri="{D42A27DB-BD31-4B8C-83A1-F6EECF244321}">
                <p14:modId xmlns:p14="http://schemas.microsoft.com/office/powerpoint/2010/main" val="226077926"/>
              </p:ext>
            </p:extLst>
          </p:nvPr>
        </p:nvGraphicFramePr>
        <p:xfrm>
          <a:off x="7014307" y="0"/>
          <a:ext cx="4575015" cy="9012138"/>
        </p:xfrm>
        <a:graphic>
          <a:graphicData uri="http://schemas.openxmlformats.org/drawingml/2006/table">
            <a:tbl>
              <a:tblPr/>
              <a:tblGrid>
                <a:gridCol w="2376406">
                  <a:extLst>
                    <a:ext uri="{9D8B030D-6E8A-4147-A177-3AD203B41FA5}">
                      <a16:colId xmlns:a16="http://schemas.microsoft.com/office/drawing/2014/main" val="1038670912"/>
                    </a:ext>
                  </a:extLst>
                </a:gridCol>
                <a:gridCol w="2198609">
                  <a:extLst>
                    <a:ext uri="{9D8B030D-6E8A-4147-A177-3AD203B41FA5}">
                      <a16:colId xmlns:a16="http://schemas.microsoft.com/office/drawing/2014/main" val="4291058776"/>
                    </a:ext>
                  </a:extLst>
                </a:gridCol>
              </a:tblGrid>
              <a:tr h="328565">
                <a:tc>
                  <a:txBody>
                    <a:bodyPr/>
                    <a:lstStyle/>
                    <a:p>
                      <a:pPr rtl="0">
                        <a:buNone/>
                      </a:pPr>
                      <a:r>
                        <a:rPr lang="en-US" sz="2000" b="1" baseline="0">
                          <a:solidFill>
                            <a:sysClr val="windowText" lastClr="000000"/>
                          </a:solidFill>
                          <a:effectLst/>
                          <a:latin typeface="Calibri"/>
                        </a:rPr>
                        <a:t>Item</a:t>
                      </a:r>
                      <a:endParaRPr lang="en-US" sz="2000" baseline="0">
                        <a:solidFill>
                          <a:sysClr val="windowText" lastClr="000000"/>
                        </a:solidFill>
                        <a:effectLst/>
                        <a:latin typeface="Calibri"/>
                      </a:endParaRPr>
                    </a:p>
                  </a:txBody>
                  <a:tcPr marL="35615" marR="35615" marT="23743" marB="23743"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en-US" sz="2000" b="1" baseline="0">
                          <a:solidFill>
                            <a:sysClr val="windowText" lastClr="000000"/>
                          </a:solidFill>
                          <a:effectLst/>
                          <a:latin typeface="Calibri"/>
                        </a:rPr>
                        <a:t>Cost</a:t>
                      </a:r>
                      <a:endParaRPr lang="en-US" sz="2000" baseline="0">
                        <a:solidFill>
                          <a:sysClr val="windowText" lastClr="000000"/>
                        </a:solidFill>
                        <a:effectLst/>
                        <a:latin typeface="Calibri"/>
                      </a:endParaRPr>
                    </a:p>
                  </a:txBody>
                  <a:tcPr marL="35615" marR="35615" marT="23743" marB="23743"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96927708"/>
                  </a:ext>
                </a:extLst>
              </a:tr>
              <a:tr h="5620821">
                <a:tc>
                  <a:txBody>
                    <a:bodyPr/>
                    <a:lstStyle/>
                    <a:p>
                      <a:pPr marL="0" lvl="0" indent="0">
                        <a:buNone/>
                      </a:pPr>
                      <a:r>
                        <a:rPr lang="en-US" sz="1600" b="1" i="0" u="none" strike="noStrike" baseline="0" noProof="0">
                          <a:solidFill>
                            <a:srgbClr val="000000"/>
                          </a:solidFill>
                          <a:effectLst/>
                          <a:latin typeface="Calibri"/>
                        </a:rPr>
                        <a:t>XIAO ESP32-S3 Sense (Transmitter)</a:t>
                      </a:r>
                    </a:p>
                    <a:p>
                      <a:pPr marL="0" lvl="0" indent="0">
                        <a:buNone/>
                      </a:pPr>
                      <a:endParaRPr lang="en-US" sz="1600" b="1" i="0" u="none" strike="noStrike" baseline="0" noProof="0">
                        <a:solidFill>
                          <a:srgbClr val="000000"/>
                        </a:solidFill>
                        <a:effectLst/>
                        <a:latin typeface="Calibri"/>
                      </a:endParaRPr>
                    </a:p>
                    <a:p>
                      <a:pPr marL="0" lvl="0" indent="0">
                        <a:buNone/>
                      </a:pPr>
                      <a:r>
                        <a:rPr lang="en-US" sz="1600" b="1" i="0" u="none" strike="noStrike" baseline="0" noProof="0">
                          <a:solidFill>
                            <a:srgbClr val="000000"/>
                          </a:solidFill>
                          <a:effectLst/>
                          <a:latin typeface="Calibri"/>
                        </a:rPr>
                        <a:t>ESP32-S3-DevKitC-1(Receiver)</a:t>
                      </a:r>
                    </a:p>
                    <a:p>
                      <a:pPr marL="0" lvl="0" indent="0">
                        <a:buNone/>
                      </a:pPr>
                      <a:endParaRPr lang="en-US" sz="1600" b="1" i="0" u="none" strike="noStrike" baseline="0" noProof="0">
                        <a:solidFill>
                          <a:srgbClr val="000000"/>
                        </a:solidFill>
                        <a:effectLst/>
                        <a:latin typeface="Calibri"/>
                      </a:endParaRPr>
                    </a:p>
                    <a:p>
                      <a:pPr marL="0" lvl="0" indent="0">
                        <a:buNone/>
                      </a:pPr>
                      <a:r>
                        <a:rPr lang="en-US" sz="1600" b="1" i="0" u="none" strike="noStrike" baseline="0" noProof="0">
                          <a:solidFill>
                            <a:srgbClr val="000000"/>
                          </a:solidFill>
                          <a:effectLst/>
                          <a:latin typeface="Calibri"/>
                        </a:rPr>
                        <a:t>12V Solenoid Lock</a:t>
                      </a:r>
                      <a:br>
                        <a:rPr lang="en-US" sz="1600" b="1" i="0" u="none" strike="noStrike" baseline="0" noProof="0">
                          <a:solidFill>
                            <a:srgbClr val="000000"/>
                          </a:solidFill>
                          <a:effectLst/>
                          <a:latin typeface="Calibri"/>
                        </a:rPr>
                      </a:br>
                      <a:endParaRPr lang="en-US" sz="1600" b="1" i="0" u="none" strike="noStrike" baseline="0" noProof="0">
                        <a:solidFill>
                          <a:srgbClr val="000000"/>
                        </a:solidFill>
                        <a:effectLst/>
                        <a:latin typeface="Calibri"/>
                      </a:endParaRPr>
                    </a:p>
                    <a:p>
                      <a:pPr marL="0" lvl="0" indent="0">
                        <a:buNone/>
                      </a:pPr>
                      <a:r>
                        <a:rPr lang="en-US" sz="1600" b="1" i="0" u="none" strike="noStrike" baseline="0" noProof="0">
                          <a:solidFill>
                            <a:srgbClr val="000000"/>
                          </a:solidFill>
                          <a:effectLst/>
                          <a:latin typeface="Calibri"/>
                        </a:rPr>
                        <a:t>5V Relay Module</a:t>
                      </a:r>
                    </a:p>
                    <a:p>
                      <a:pPr marL="0" lvl="0" indent="0">
                        <a:buNone/>
                      </a:pPr>
                      <a:endParaRPr lang="en-US" sz="1600" b="1" i="0" u="none" strike="noStrike" baseline="0" noProof="0">
                        <a:solidFill>
                          <a:srgbClr val="000000"/>
                        </a:solidFill>
                        <a:effectLst/>
                        <a:latin typeface="Calibri"/>
                      </a:endParaRPr>
                    </a:p>
                    <a:p>
                      <a:pPr marL="0" lvl="0" indent="0">
                        <a:buNone/>
                      </a:pPr>
                      <a:r>
                        <a:rPr lang="en-US" sz="1600" b="1" i="0" u="none" strike="noStrike" baseline="0" noProof="0">
                          <a:solidFill>
                            <a:srgbClr val="000000"/>
                          </a:solidFill>
                          <a:effectLst/>
                          <a:latin typeface="Calibri"/>
                        </a:rPr>
                        <a:t>Power Supply &amp; Buck Converter</a:t>
                      </a:r>
                    </a:p>
                    <a:p>
                      <a:pPr marL="0" lvl="0" indent="0">
                        <a:buNone/>
                      </a:pPr>
                      <a:endParaRPr lang="en-US" sz="1600" b="1" i="0" u="none" strike="noStrike" baseline="0" noProof="0">
                        <a:solidFill>
                          <a:srgbClr val="000000"/>
                        </a:solidFill>
                        <a:effectLst/>
                        <a:latin typeface="Calibri"/>
                      </a:endParaRPr>
                    </a:p>
                    <a:p>
                      <a:pPr marL="0" lvl="0" indent="0">
                        <a:buNone/>
                      </a:pPr>
                      <a:r>
                        <a:rPr lang="en-US" sz="1600" b="1" i="0" u="none" strike="noStrike" baseline="0" noProof="0">
                          <a:solidFill>
                            <a:srgbClr val="000000"/>
                          </a:solidFill>
                          <a:effectLst/>
                          <a:latin typeface="Calibri"/>
                        </a:rPr>
                        <a:t>400 Points Solderless Breadboard</a:t>
                      </a:r>
                    </a:p>
                    <a:p>
                      <a:pPr marL="0" lvl="0" indent="0">
                        <a:buNone/>
                      </a:pPr>
                      <a:endParaRPr lang="en-US" sz="1600" b="1" i="0" u="none" strike="noStrike" baseline="0" noProof="0">
                        <a:solidFill>
                          <a:srgbClr val="000000"/>
                        </a:solidFill>
                        <a:effectLst/>
                        <a:latin typeface="Calibri"/>
                      </a:endParaRPr>
                    </a:p>
                    <a:p>
                      <a:pPr marL="0" lvl="0" indent="0">
                        <a:buNone/>
                      </a:pPr>
                      <a:r>
                        <a:rPr lang="en-US" sz="1600" b="1" i="0" u="none" strike="noStrike" baseline="0" noProof="0">
                          <a:solidFill>
                            <a:srgbClr val="000000"/>
                          </a:solidFill>
                          <a:effectLst/>
                          <a:latin typeface="Calibri"/>
                        </a:rPr>
                        <a:t>EEMB 3.7V LiPo Battery 500mAh</a:t>
                      </a:r>
                      <a:endParaRPr lang="en-US" sz="1600" b="1">
                        <a:latin typeface="Calibri"/>
                      </a:endParaRPr>
                    </a:p>
                    <a:p>
                      <a:pPr marL="0" lvl="0" indent="0">
                        <a:buNone/>
                      </a:pPr>
                      <a:endParaRPr lang="en-US" sz="1600" b="1" i="0" u="none" strike="noStrike" baseline="0" noProof="0">
                        <a:solidFill>
                          <a:srgbClr val="000000"/>
                        </a:solidFill>
                        <a:effectLst/>
                        <a:latin typeface="Calibri"/>
                      </a:endParaRPr>
                    </a:p>
                    <a:p>
                      <a:pPr marL="0" lvl="0" indent="0">
                        <a:buNone/>
                      </a:pPr>
                      <a:r>
                        <a:rPr lang="en-US" sz="1600" b="1" i="0" u="none" strike="noStrike" baseline="0" noProof="0">
                          <a:solidFill>
                            <a:srgbClr val="000000"/>
                          </a:solidFill>
                          <a:effectLst/>
                          <a:latin typeface="Calibri"/>
                        </a:rPr>
                        <a:t>DAOKI 100Pcs Tact Button</a:t>
                      </a:r>
                    </a:p>
                    <a:p>
                      <a:pPr marL="0" lvl="0" indent="0">
                        <a:buNone/>
                      </a:pPr>
                      <a:endParaRPr lang="en-US" sz="1600" b="1" i="0" u="none" strike="noStrike" baseline="0" noProof="0">
                        <a:solidFill>
                          <a:srgbClr val="000000"/>
                        </a:solidFill>
                        <a:effectLst/>
                        <a:latin typeface="Calibri"/>
                      </a:endParaRPr>
                    </a:p>
                    <a:p>
                      <a:pPr marL="0" lvl="0" indent="0">
                        <a:buNone/>
                      </a:pPr>
                      <a:r>
                        <a:rPr lang="en-US" sz="1600" b="1" i="0" u="none" strike="noStrike" baseline="0" noProof="0">
                          <a:solidFill>
                            <a:srgbClr val="000000"/>
                          </a:solidFill>
                          <a:effectLst/>
                          <a:latin typeface="Calibri"/>
                        </a:rPr>
                        <a:t>Mounting Bracket for the ESP32-S3 Sense</a:t>
                      </a:r>
                    </a:p>
                    <a:p>
                      <a:pPr marL="0" lvl="0" indent="0">
                        <a:buNone/>
                      </a:pPr>
                      <a:endParaRPr lang="en-US" sz="1600" b="1" i="0" u="none" strike="noStrike" baseline="0" noProof="0">
                        <a:solidFill>
                          <a:srgbClr val="000000"/>
                        </a:solidFill>
                        <a:effectLst/>
                        <a:latin typeface="Calibri"/>
                      </a:endParaRPr>
                    </a:p>
                    <a:p>
                      <a:pPr marL="0" lvl="0" indent="0">
                        <a:buNone/>
                      </a:pPr>
                      <a:r>
                        <a:rPr lang="en-US" sz="1600" b="1" i="0" u="none" strike="noStrike" baseline="0" noProof="0">
                          <a:solidFill>
                            <a:srgbClr val="000000"/>
                          </a:solidFill>
                          <a:effectLst/>
                          <a:latin typeface="Calibri"/>
                        </a:rPr>
                        <a:t>Jumper Wires Kit</a:t>
                      </a:r>
                    </a:p>
                    <a:p>
                      <a:pPr marL="0" lvl="0" indent="0">
                        <a:buNone/>
                      </a:pPr>
                      <a:endParaRPr lang="en-US" sz="1600" b="1" i="0" u="none" strike="noStrike" baseline="0" noProof="0">
                        <a:solidFill>
                          <a:srgbClr val="000000"/>
                        </a:solidFill>
                        <a:effectLst/>
                        <a:latin typeface="Calibri"/>
                      </a:endParaRPr>
                    </a:p>
                    <a:p>
                      <a:pPr marL="0" lvl="0" indent="0">
                        <a:buNone/>
                      </a:pPr>
                      <a:endParaRPr lang="en-US" sz="1600" b="1" i="0" u="none" strike="noStrike" baseline="0" noProof="0">
                        <a:solidFill>
                          <a:srgbClr val="000000"/>
                        </a:solidFill>
                        <a:effectLst/>
                        <a:latin typeface="Calibri"/>
                      </a:endParaRPr>
                    </a:p>
                    <a:p>
                      <a:pPr marL="0" lvl="0" indent="0">
                        <a:buNone/>
                      </a:pPr>
                      <a:endParaRPr lang="en-US" sz="1600" b="1" i="0" u="none" strike="noStrike" baseline="0" noProof="0">
                        <a:solidFill>
                          <a:srgbClr val="000000"/>
                        </a:solidFill>
                        <a:effectLst/>
                        <a:latin typeface="Calibri"/>
                      </a:endParaRPr>
                    </a:p>
                    <a:p>
                      <a:pPr marL="0" lvl="0" indent="0">
                        <a:buNone/>
                      </a:pPr>
                      <a:endParaRPr lang="en-US" sz="1600" b="1" i="0" u="none" strike="noStrike" baseline="0" noProof="0">
                        <a:solidFill>
                          <a:srgbClr val="000000"/>
                        </a:solidFill>
                        <a:effectLst/>
                        <a:latin typeface="Calibri"/>
                      </a:endParaRPr>
                    </a:p>
                    <a:p>
                      <a:pPr marL="0" lvl="0" indent="0">
                        <a:buNone/>
                      </a:pPr>
                      <a:endParaRPr lang="en-US" sz="1600" b="1" i="0" u="none" strike="noStrike" baseline="0" noProof="0">
                        <a:solidFill>
                          <a:srgbClr val="000000"/>
                        </a:solidFill>
                        <a:effectLst/>
                        <a:latin typeface="Calibri"/>
                      </a:endParaRPr>
                    </a:p>
                    <a:p>
                      <a:pPr marL="0" lvl="0" indent="0">
                        <a:buNone/>
                      </a:pPr>
                      <a:endParaRPr lang="en-US" sz="1600" b="1" i="0" u="none" strike="noStrike" baseline="0" noProof="0">
                        <a:solidFill>
                          <a:srgbClr val="000000"/>
                        </a:solidFill>
                        <a:effectLst/>
                        <a:latin typeface="Calibri"/>
                      </a:endParaRPr>
                    </a:p>
                    <a:p>
                      <a:pPr marL="0" lvl="0" indent="0">
                        <a:buNone/>
                      </a:pPr>
                      <a:endParaRPr lang="en-US" sz="1600" b="1" i="0" u="none" strike="noStrike" baseline="0" noProof="0">
                        <a:solidFill>
                          <a:srgbClr val="000000"/>
                        </a:solidFill>
                        <a:effectLst/>
                        <a:latin typeface="Calibri"/>
                      </a:endParaRPr>
                    </a:p>
                    <a:p>
                      <a:pPr lvl="0" algn="l">
                        <a:lnSpc>
                          <a:spcPct val="100000"/>
                        </a:lnSpc>
                        <a:spcBef>
                          <a:spcPts val="0"/>
                        </a:spcBef>
                        <a:spcAft>
                          <a:spcPts val="0"/>
                        </a:spcAft>
                        <a:buNone/>
                      </a:pPr>
                      <a:endParaRPr lang="en-US" sz="1600" b="1" i="0" u="none" strike="noStrike" baseline="0" noProof="0">
                        <a:solidFill>
                          <a:srgbClr val="000000"/>
                        </a:solidFill>
                        <a:effectLst/>
                        <a:latin typeface="Calibri"/>
                      </a:endParaRPr>
                    </a:p>
                    <a:p>
                      <a:pPr marL="0" lvl="0" indent="0">
                        <a:buNone/>
                      </a:pPr>
                      <a:endParaRPr lang="en-US" sz="1600" b="1" i="0" u="none" strike="noStrike" baseline="0" noProof="0">
                        <a:solidFill>
                          <a:srgbClr val="000000"/>
                        </a:solidFill>
                        <a:effectLst/>
                        <a:latin typeface="Calibri"/>
                      </a:endParaRPr>
                    </a:p>
                  </a:txBody>
                  <a:tcPr marL="35615" marR="35615" marT="23743" marB="23743"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0" indent="0" rtl="0">
                        <a:buNone/>
                      </a:pPr>
                      <a:r>
                        <a:rPr lang="en-US" sz="1600" b="1" baseline="0">
                          <a:solidFill>
                            <a:sysClr val="windowText" lastClr="000000"/>
                          </a:solidFill>
                          <a:effectLst/>
                          <a:latin typeface="Calibri"/>
                        </a:rPr>
                        <a:t>$23.99</a:t>
                      </a:r>
                      <a:endParaRPr lang="en-US" sz="1600" b="1">
                        <a:latin typeface="Calibri"/>
                      </a:endParaRPr>
                    </a:p>
                    <a:p>
                      <a:pPr marL="0" lvl="0" indent="0">
                        <a:buNone/>
                      </a:pPr>
                      <a:endParaRPr lang="en-US" sz="1600" b="1" baseline="0">
                        <a:solidFill>
                          <a:sysClr val="windowText" lastClr="000000"/>
                        </a:solidFill>
                        <a:effectLst/>
                        <a:latin typeface="Calibri"/>
                      </a:endParaRPr>
                    </a:p>
                    <a:p>
                      <a:pPr lvl="0" algn="l">
                        <a:lnSpc>
                          <a:spcPct val="100000"/>
                        </a:lnSpc>
                        <a:spcBef>
                          <a:spcPts val="0"/>
                        </a:spcBef>
                        <a:spcAft>
                          <a:spcPts val="0"/>
                        </a:spcAft>
                        <a:buNone/>
                      </a:pPr>
                      <a:endParaRPr lang="en-US" sz="1600" b="1" i="0" u="none" strike="noStrike" baseline="0" noProof="0">
                        <a:solidFill>
                          <a:srgbClr val="000000"/>
                        </a:solidFill>
                        <a:effectLst/>
                        <a:latin typeface="Calibri"/>
                      </a:endParaRPr>
                    </a:p>
                    <a:p>
                      <a:pPr lvl="0" algn="l">
                        <a:lnSpc>
                          <a:spcPct val="100000"/>
                        </a:lnSpc>
                        <a:spcBef>
                          <a:spcPts val="0"/>
                        </a:spcBef>
                        <a:spcAft>
                          <a:spcPts val="0"/>
                        </a:spcAft>
                        <a:buNone/>
                      </a:pPr>
                      <a:r>
                        <a:rPr lang="en-US" sz="1600" b="1" i="0" u="none" strike="noStrike" baseline="0" noProof="0">
                          <a:solidFill>
                            <a:srgbClr val="000000"/>
                          </a:solidFill>
                          <a:effectLst/>
                          <a:latin typeface="Calibri"/>
                        </a:rPr>
                        <a:t>$15.00</a:t>
                      </a:r>
                      <a:endParaRPr lang="en-US"/>
                    </a:p>
                    <a:p>
                      <a:pPr lvl="0" algn="l">
                        <a:lnSpc>
                          <a:spcPct val="100000"/>
                        </a:lnSpc>
                        <a:spcBef>
                          <a:spcPts val="0"/>
                        </a:spcBef>
                        <a:spcAft>
                          <a:spcPts val="0"/>
                        </a:spcAft>
                        <a:buNone/>
                      </a:pPr>
                      <a:endParaRPr lang="en-US" sz="1600" b="1" i="0" u="none" strike="noStrike" baseline="0" noProof="0">
                        <a:solidFill>
                          <a:srgbClr val="000000"/>
                        </a:solidFill>
                        <a:effectLst/>
                        <a:latin typeface="Calibri"/>
                      </a:endParaRPr>
                    </a:p>
                    <a:p>
                      <a:pPr lvl="0" algn="l">
                        <a:lnSpc>
                          <a:spcPct val="100000"/>
                        </a:lnSpc>
                        <a:spcBef>
                          <a:spcPts val="0"/>
                        </a:spcBef>
                        <a:spcAft>
                          <a:spcPts val="0"/>
                        </a:spcAft>
                        <a:buNone/>
                      </a:pPr>
                      <a:endParaRPr lang="en-US" sz="1600" b="1" i="0" u="none" strike="noStrike" baseline="0" noProof="0">
                        <a:solidFill>
                          <a:srgbClr val="000000"/>
                        </a:solidFill>
                        <a:effectLst/>
                        <a:latin typeface="Calibri"/>
                      </a:endParaRPr>
                    </a:p>
                    <a:p>
                      <a:pPr lvl="0" algn="l">
                        <a:lnSpc>
                          <a:spcPct val="100000"/>
                        </a:lnSpc>
                        <a:spcBef>
                          <a:spcPts val="0"/>
                        </a:spcBef>
                        <a:spcAft>
                          <a:spcPts val="0"/>
                        </a:spcAft>
                        <a:buNone/>
                      </a:pPr>
                      <a:r>
                        <a:rPr lang="en-US" sz="1600" b="1" i="0" u="none" strike="noStrike" baseline="0" noProof="0">
                          <a:solidFill>
                            <a:sysClr val="windowText" lastClr="000000"/>
                          </a:solidFill>
                          <a:effectLst/>
                          <a:latin typeface="Calibri"/>
                        </a:rPr>
                        <a:t>$15.49 </a:t>
                      </a:r>
                      <a:endParaRPr lang="en-US" sz="1600" b="1">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r>
                        <a:rPr lang="en-US" sz="1600" b="1" i="0" u="none" strike="noStrike" baseline="0" noProof="0">
                          <a:solidFill>
                            <a:sysClr val="windowText" lastClr="000000"/>
                          </a:solidFill>
                          <a:effectLst/>
                          <a:latin typeface="Calibri"/>
                        </a:rPr>
                        <a:t>$6.99 </a:t>
                      </a: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r>
                        <a:rPr lang="en-US" sz="1600" b="1" i="0" u="none" strike="noStrike" baseline="0" noProof="0">
                          <a:solidFill>
                            <a:sysClr val="windowText" lastClr="000000"/>
                          </a:solidFill>
                          <a:effectLst/>
                          <a:latin typeface="Calibri"/>
                        </a:rPr>
                        <a:t>$15.96 </a:t>
                      </a: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r>
                        <a:rPr lang="en-US" sz="1600" b="1" i="0" u="none" strike="noStrike" baseline="0" noProof="0">
                          <a:solidFill>
                            <a:sysClr val="windowText" lastClr="000000"/>
                          </a:solidFill>
                          <a:effectLst/>
                          <a:latin typeface="Calibri"/>
                        </a:rPr>
                        <a:t>$7.99</a:t>
                      </a: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r>
                        <a:rPr lang="en-US" sz="1600" b="1" i="0" u="none" strike="noStrike" baseline="0" noProof="0">
                          <a:solidFill>
                            <a:sysClr val="windowText" lastClr="000000"/>
                          </a:solidFill>
                          <a:effectLst/>
                          <a:latin typeface="Calibri"/>
                        </a:rPr>
                        <a:t>$8.18</a:t>
                      </a: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r>
                        <a:rPr lang="en-US" sz="1600" b="1" i="0" u="none" strike="noStrike" baseline="0" noProof="0">
                          <a:solidFill>
                            <a:sysClr val="windowText" lastClr="000000"/>
                          </a:solidFill>
                          <a:effectLst/>
                          <a:latin typeface="Calibri"/>
                        </a:rPr>
                        <a:t>$4.99</a:t>
                      </a: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r>
                        <a:rPr lang="en-US" sz="1600" b="1" i="0" u="none" strike="noStrike" baseline="0" noProof="0">
                          <a:solidFill>
                            <a:sysClr val="windowText" lastClr="000000"/>
                          </a:solidFill>
                          <a:effectLst/>
                          <a:latin typeface="Calibri"/>
                        </a:rPr>
                        <a:t>$6.98</a:t>
                      </a: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p>
                      <a:pPr marL="0" lvl="0" indent="0">
                        <a:buNone/>
                      </a:pPr>
                      <a:endParaRPr lang="en-US" sz="1600" b="1" i="0" u="none" strike="noStrike" baseline="0" noProof="0">
                        <a:solidFill>
                          <a:sysClr val="windowText" lastClr="000000"/>
                        </a:solidFill>
                        <a:effectLst/>
                        <a:latin typeface="Calibri"/>
                      </a:endParaRPr>
                    </a:p>
                  </a:txBody>
                  <a:tcPr marL="35615" marR="35615" marT="23743" marB="23743"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22414575"/>
                  </a:ext>
                </a:extLst>
              </a:tr>
              <a:tr h="293362">
                <a:tc>
                  <a:txBody>
                    <a:bodyPr/>
                    <a:lstStyle/>
                    <a:p>
                      <a:pPr marL="0" indent="0" rtl="0">
                        <a:buNone/>
                      </a:pPr>
                      <a:endParaRPr lang="en-US" sz="1800" b="1" baseline="0">
                        <a:solidFill>
                          <a:sysClr val="windowText" lastClr="000000"/>
                        </a:solidFill>
                        <a:effectLst/>
                        <a:latin typeface="Calibri"/>
                      </a:endParaRPr>
                    </a:p>
                  </a:txBody>
                  <a:tcPr marL="35615" marR="35615" marT="23743" marB="23743"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0" indent="0" rtl="0">
                        <a:buNone/>
                      </a:pPr>
                      <a:endParaRPr lang="en-US" sz="1800" baseline="0">
                        <a:solidFill>
                          <a:sysClr val="windowText" lastClr="000000"/>
                        </a:solidFill>
                        <a:effectLst/>
                        <a:latin typeface="Calibri"/>
                      </a:endParaRPr>
                    </a:p>
                  </a:txBody>
                  <a:tcPr marL="35615" marR="35615" marT="23743" marB="23743"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84291335"/>
                  </a:ext>
                </a:extLst>
              </a:tr>
            </a:tbl>
          </a:graphicData>
        </a:graphic>
      </p:graphicFrame>
      <p:sp>
        <p:nvSpPr>
          <p:cNvPr id="3" name="TextBox 2">
            <a:extLst>
              <a:ext uri="{FF2B5EF4-FFF2-40B4-BE49-F238E27FC236}">
                <a16:creationId xmlns:a16="http://schemas.microsoft.com/office/drawing/2014/main" id="{070D45C9-2F58-18C0-56C1-E32765BB99F6}"/>
              </a:ext>
            </a:extLst>
          </p:cNvPr>
          <p:cNvSpPr txBox="1"/>
          <p:nvPr/>
        </p:nvSpPr>
        <p:spPr>
          <a:xfrm>
            <a:off x="790428" y="1838375"/>
            <a:ext cx="486032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alibri"/>
                <a:ea typeface="Calibri"/>
                <a:cs typeface="Calibri"/>
              </a:rPr>
              <a:t>Total Cost: $100.97</a:t>
            </a:r>
          </a:p>
        </p:txBody>
      </p:sp>
      <p:pic>
        <p:nvPicPr>
          <p:cNvPr id="5" name="Picture 4">
            <a:extLst>
              <a:ext uri="{FF2B5EF4-FFF2-40B4-BE49-F238E27FC236}">
                <a16:creationId xmlns:a16="http://schemas.microsoft.com/office/drawing/2014/main" id="{2D021ED8-485C-05E1-1DF3-571484FE1A97}"/>
              </a:ext>
            </a:extLst>
          </p:cNvPr>
          <p:cNvPicPr>
            <a:picLocks noChangeAspect="1"/>
          </p:cNvPicPr>
          <p:nvPr/>
        </p:nvPicPr>
        <p:blipFill>
          <a:blip r:embed="rId3"/>
          <a:stretch>
            <a:fillRect/>
          </a:stretch>
        </p:blipFill>
        <p:spPr>
          <a:xfrm>
            <a:off x="791308" y="2813537"/>
            <a:ext cx="2370668" cy="2312053"/>
          </a:xfrm>
          <a:prstGeom prst="rect">
            <a:avLst/>
          </a:prstGeom>
        </p:spPr>
      </p:pic>
    </p:spTree>
    <p:extLst>
      <p:ext uri="{BB962C8B-B14F-4D97-AF65-F5344CB8AC3E}">
        <p14:creationId xmlns:p14="http://schemas.microsoft.com/office/powerpoint/2010/main" val="1127649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343226" y="156715"/>
            <a:ext cx="10515600" cy="1325563"/>
          </a:xfrm>
          <a:noFill/>
        </p:spPr>
        <p:txBody>
          <a:bodyPr anchor="ctr"/>
          <a:lstStyle/>
          <a:p>
            <a:r>
              <a:rPr lang="en-US" sz="3600">
                <a:latin typeface="Calibri"/>
                <a:ea typeface="Calibri"/>
                <a:cs typeface="Calibri"/>
              </a:rPr>
              <a:t>Logic Flow</a:t>
            </a:r>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half" idx="15"/>
          </p:nvPr>
        </p:nvSpPr>
        <p:spPr>
          <a:xfrm>
            <a:off x="342900" y="1690688"/>
            <a:ext cx="6698156" cy="4297680"/>
          </a:xfrm>
          <a:noFill/>
        </p:spPr>
        <p:txBody>
          <a:bodyPr vert="horz" lIns="91440" tIns="45720" rIns="91440" bIns="45720" rtlCol="0" anchor="t">
            <a:normAutofit/>
          </a:bodyPr>
          <a:lstStyle/>
          <a:p>
            <a:pPr>
              <a:lnSpc>
                <a:spcPct val="120000"/>
              </a:lnSpc>
            </a:pPr>
            <a:r>
              <a:rPr lang="en-US">
                <a:latin typeface="Calibri"/>
                <a:ea typeface="Calibri"/>
                <a:cs typeface="Calibri"/>
              </a:rPr>
              <a:t>The system operates through both physical hardware and the backend integrated through a mobile application. Users capture and program their facial data into the app. The app allows the primary administrator to select specific "Authorized Faces" that are then synced to the local device (ESP32-S3 Sense). When the system is triggered from "Deep Sleep" by the click of a button, the camera captures a live frame to detect a human face using a </a:t>
            </a:r>
            <a:r>
              <a:rPr lang="en-US" b="1">
                <a:latin typeface="Calibri"/>
                <a:ea typeface="Calibri"/>
                <a:cs typeface="Calibri"/>
              </a:rPr>
              <a:t>CNN model</a:t>
            </a:r>
            <a:r>
              <a:rPr lang="en-US">
                <a:latin typeface="Calibri"/>
                <a:ea typeface="Calibri"/>
                <a:cs typeface="Calibri"/>
              </a:rPr>
              <a:t>, which is then converted into a mathematical encoding for verification. If a match is found, the microcontroller sends a signal to the </a:t>
            </a:r>
            <a:r>
              <a:rPr lang="en-US" b="1">
                <a:latin typeface="Calibri"/>
                <a:ea typeface="Calibri"/>
                <a:cs typeface="Calibri"/>
              </a:rPr>
              <a:t>5V relay. </a:t>
            </a:r>
            <a:r>
              <a:rPr lang="en-US">
                <a:latin typeface="Calibri"/>
                <a:ea typeface="Calibri"/>
                <a:cs typeface="Calibri"/>
              </a:rPr>
              <a:t>Upon a successful match, the GPIO pin triggers the 5V relay to retract the 12V solenoid for 20 seconds, allowing secure access.</a:t>
            </a:r>
          </a:p>
        </p:txBody>
      </p:sp>
      <p:sp>
        <p:nvSpPr>
          <p:cNvPr id="6" name="Rectangle 1">
            <a:extLst>
              <a:ext uri="{FF2B5EF4-FFF2-40B4-BE49-F238E27FC236}">
                <a16:creationId xmlns:a16="http://schemas.microsoft.com/office/drawing/2014/main" id="{818F0309-C99A-FEEF-A569-C212CF9A361D}"/>
              </a:ext>
            </a:extLst>
          </p:cNvPr>
          <p:cNvSpPr>
            <a:spLocks noGrp="1" noChangeArrowheads="1"/>
          </p:cNvSpPr>
          <p:nvPr>
            <p:ph sz="half" idx="1"/>
          </p:nvPr>
        </p:nvSpPr>
        <p:spPr bwMode="auto">
          <a:xfrm>
            <a:off x="7255109" y="1692612"/>
            <a:ext cx="474183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effectLst/>
                <a:latin typeface="Calibri"/>
                <a:ea typeface="Calibri"/>
                <a:cs typeface="Calibri"/>
              </a:rPr>
              <a:t>Trigger Phase:</a:t>
            </a:r>
            <a:r>
              <a:rPr kumimoji="0" lang="en-US" altLang="en-US" sz="2000" b="0" i="0" u="none" strike="noStrike" cap="none" normalizeH="0" baseline="0">
                <a:ln>
                  <a:noFill/>
                </a:ln>
                <a:effectLst/>
                <a:latin typeface="Calibri"/>
                <a:ea typeface="Calibri"/>
                <a:cs typeface="Calibri"/>
              </a:rPr>
              <a:t> </a:t>
            </a:r>
            <a:endParaRPr lang="en-US" altLang="en-US" sz="2000" b="0" i="0" u="none" strike="noStrike" cap="none" normalizeH="0" baseline="0">
              <a:ln>
                <a:noFill/>
              </a:ln>
              <a:effectLst/>
              <a:latin typeface="Calibri"/>
              <a:ea typeface="Calibri"/>
              <a:cs typeface="Calibri"/>
            </a:endParaRPr>
          </a:p>
          <a:p>
            <a:pPr marL="0" indent="0" eaLnBrk="0" fontAlgn="base" hangingPunct="0">
              <a:lnSpc>
                <a:spcPct val="100000"/>
              </a:lnSpc>
              <a:spcBef>
                <a:spcPct val="0"/>
              </a:spcBef>
              <a:spcAft>
                <a:spcPct val="0"/>
              </a:spcAft>
              <a:buClrTx/>
              <a:buNone/>
            </a:pPr>
            <a:r>
              <a:rPr kumimoji="0" lang="en-US" altLang="en-US" sz="2000" b="0" i="0" u="none" strike="noStrike" cap="none" normalizeH="0" baseline="0">
                <a:ln>
                  <a:noFill/>
                </a:ln>
                <a:effectLst/>
                <a:latin typeface="Calibri"/>
                <a:ea typeface="Calibri"/>
                <a:cs typeface="Calibri"/>
              </a:rPr>
              <a:t>System wakes from Deep Sleep via </a:t>
            </a:r>
            <a:r>
              <a:rPr lang="en-US" altLang="en-US" sz="2000">
                <a:latin typeface="Calibri"/>
                <a:ea typeface="Calibri"/>
                <a:cs typeface="Calibri"/>
              </a:rPr>
              <a:t>the click of a button</a:t>
            </a:r>
            <a:r>
              <a:rPr kumimoji="0" lang="en-US" altLang="en-US" sz="2000" b="0" i="0" u="none" strike="noStrike" cap="none" normalizeH="0" baseline="0">
                <a:ln>
                  <a:noFill/>
                </a:ln>
                <a:effectLst/>
                <a:latin typeface="Calibri"/>
                <a:ea typeface="Calibri"/>
                <a:cs typeface="Calibri"/>
              </a:rPr>
              <a:t>.</a:t>
            </a:r>
            <a:endParaRPr lang="en-US" altLang="en-US" sz="2000" b="0" i="0" u="none" strike="noStrike" cap="none" normalizeH="0" baseline="0">
              <a:ln>
                <a:noFill/>
              </a:ln>
              <a:effectLst/>
              <a:latin typeface="Calibri"/>
              <a:ea typeface="Calibri"/>
              <a:cs typeface="Calibri"/>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effectLst/>
                <a:latin typeface="Calibri"/>
                <a:ea typeface="Calibri"/>
                <a:cs typeface="Calibri"/>
              </a:rPr>
              <a:t>Detection Phase:</a:t>
            </a:r>
            <a:endParaRPr lang="en-US" altLang="en-US" sz="2000">
              <a:latin typeface="Calibri"/>
              <a:ea typeface="Calibri"/>
              <a:cs typeface="Calibri"/>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a:ln>
                  <a:noFill/>
                </a:ln>
                <a:effectLst/>
                <a:latin typeface="Calibri"/>
                <a:ea typeface="Calibri"/>
                <a:cs typeface="Calibri"/>
              </a:rPr>
              <a:t>Camera identifies a face presence using Haar Cascade or CNN.</a:t>
            </a:r>
            <a:endParaRPr lang="en-US" altLang="en-US" sz="2000" b="0" i="0" u="none" strike="noStrike" cap="none" normalizeH="0" baseline="0">
              <a:ln>
                <a:noFill/>
              </a:ln>
              <a:effectLst/>
              <a:latin typeface="Calibri"/>
              <a:ea typeface="Calibri"/>
              <a:cs typeface="Calibri"/>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effectLst/>
                <a:latin typeface="Calibri"/>
                <a:ea typeface="Calibri"/>
                <a:cs typeface="Calibri"/>
              </a:rPr>
              <a:t>Recognition Phase:</a:t>
            </a:r>
            <a:r>
              <a:rPr kumimoji="0" lang="en-US" altLang="en-US" sz="2000" b="0" i="0" u="none" strike="noStrike" cap="none" normalizeH="0" baseline="0">
                <a:ln>
                  <a:noFill/>
                </a:ln>
                <a:effectLst/>
                <a:latin typeface="Calibri"/>
                <a:ea typeface="Calibri"/>
                <a:cs typeface="Calibri"/>
              </a:rPr>
              <a:t> </a:t>
            </a:r>
            <a:endParaRPr lang="en-US" altLang="en-US" sz="2000" b="0" i="0" u="none" strike="noStrike" cap="none" normalizeH="0" baseline="0">
              <a:ln>
                <a:noFill/>
              </a:ln>
              <a:effectLst/>
              <a:latin typeface="Calibri"/>
              <a:ea typeface="Calibri"/>
              <a:cs typeface="Calibri"/>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a:ln>
                  <a:noFill/>
                </a:ln>
                <a:effectLst/>
                <a:latin typeface="Calibri"/>
                <a:ea typeface="Calibri"/>
                <a:cs typeface="Calibri"/>
              </a:rPr>
              <a:t>Captured face is mathematically matched against stored data.</a:t>
            </a:r>
            <a:endParaRPr lang="en-US" altLang="en-US" sz="2000" b="0" i="0" u="none" strike="noStrike" cap="none" normalizeH="0" baseline="0">
              <a:ln>
                <a:noFill/>
              </a:ln>
              <a:effectLst/>
              <a:latin typeface="Calibri"/>
              <a:ea typeface="Calibri"/>
              <a:cs typeface="Calibri"/>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effectLst/>
                <a:latin typeface="Calibri"/>
                <a:ea typeface="Calibri"/>
                <a:cs typeface="Calibri"/>
              </a:rPr>
              <a:t>Actuation Phase:</a:t>
            </a:r>
            <a:r>
              <a:rPr kumimoji="0" lang="en-US" altLang="en-US" sz="2000" b="0" i="0" u="none" strike="noStrike" cap="none" normalizeH="0" baseline="0">
                <a:ln>
                  <a:noFill/>
                </a:ln>
                <a:effectLst/>
                <a:latin typeface="Calibri"/>
                <a:ea typeface="Calibri"/>
                <a:cs typeface="Calibri"/>
              </a:rPr>
              <a:t> </a:t>
            </a:r>
            <a:endParaRPr lang="en-US" altLang="en-US" sz="2000" b="0" i="0" u="none" strike="noStrike" cap="none" normalizeH="0" baseline="0">
              <a:ln>
                <a:noFill/>
              </a:ln>
              <a:effectLst/>
              <a:latin typeface="Calibri"/>
              <a:ea typeface="Calibri"/>
              <a:cs typeface="Calibri"/>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a:ln>
                  <a:noFill/>
                </a:ln>
                <a:effectLst/>
                <a:latin typeface="Calibri"/>
                <a:ea typeface="Calibri"/>
                <a:cs typeface="Calibri"/>
              </a:rPr>
              <a:t>GPIO pin triggers the relay to retract the solenoid lock.</a:t>
            </a:r>
            <a:endParaRPr lang="en-US" altLang="en-US" sz="2000" b="0" i="0" u="none" strike="noStrike" cap="none" normalizeH="0" baseline="0">
              <a:ln>
                <a:noFill/>
              </a:ln>
              <a:effectLst/>
              <a:latin typeface="Calibri"/>
              <a:ea typeface="Calibri"/>
              <a:cs typeface="Calibri"/>
            </a:endParaRPr>
          </a:p>
        </p:txBody>
      </p:sp>
    </p:spTree>
    <p:extLst>
      <p:ext uri="{BB962C8B-B14F-4D97-AF65-F5344CB8AC3E}">
        <p14:creationId xmlns:p14="http://schemas.microsoft.com/office/powerpoint/2010/main" val="72960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C0A53-72FB-C017-A809-917249AD5E73}"/>
              </a:ext>
            </a:extLst>
          </p:cNvPr>
          <p:cNvSpPr>
            <a:spLocks noGrp="1"/>
          </p:cNvSpPr>
          <p:nvPr>
            <p:ph type="title"/>
          </p:nvPr>
        </p:nvSpPr>
        <p:spPr>
          <a:xfrm>
            <a:off x="838200" y="365125"/>
            <a:ext cx="10515600" cy="1325563"/>
          </a:xfrm>
        </p:spPr>
        <p:txBody>
          <a:bodyPr vert="horz" lIns="91440" tIns="45720" rIns="91440" bIns="45720" rtlCol="0" anchor="ctr" anchorCtr="0">
            <a:normAutofit/>
          </a:bodyPr>
          <a:lstStyle/>
          <a:p>
            <a:r>
              <a:rPr lang="en-US" kern="1200">
                <a:latin typeface="Calibri"/>
                <a:ea typeface="Calibri"/>
                <a:cs typeface="Calibri"/>
              </a:rPr>
              <a:t>Face ID Enrollment</a:t>
            </a:r>
          </a:p>
        </p:txBody>
      </p:sp>
      <p:sp>
        <p:nvSpPr>
          <p:cNvPr id="7" name="Rectangle 6">
            <a:extLst>
              <a:ext uri="{FF2B5EF4-FFF2-40B4-BE49-F238E27FC236}">
                <a16:creationId xmlns:a16="http://schemas.microsoft.com/office/drawing/2014/main" id="{CEBC0C26-DB13-6EB4-0AD7-ABBC1F07A3E7}"/>
              </a:ext>
            </a:extLst>
          </p:cNvPr>
          <p:cNvSpPr>
            <a:spLocks noGrp="1" noChangeArrowheads="1"/>
          </p:cNvSpPr>
          <p:nvPr/>
        </p:nvSpPr>
        <p:spPr bwMode="auto">
          <a:xfrm>
            <a:off x="838200" y="1825625"/>
            <a:ext cx="6934200" cy="429768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defPPr>
              <a:defRPr lang="en-US"/>
            </a:defPPr>
            <a:lvl1pPr marL="0" indent="0" algn="l" defTabSz="914400" rtl="0" eaLnBrk="1" latinLnBrk="0" hangingPunct="1">
              <a:lnSpc>
                <a:spcPct val="90000"/>
              </a:lnSpc>
              <a:spcBef>
                <a:spcPts val="1000"/>
              </a:spcBef>
              <a:spcAft>
                <a:spcPts val="800"/>
              </a:spcAft>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2000" kern="1200">
                <a:solidFill>
                  <a:schemeClr val="tx1"/>
                </a:solidFill>
                <a:latin typeface="+mn-lt"/>
                <a:ea typeface="+mn-ea"/>
                <a:cs typeface="+mn-cs"/>
              </a:defRPr>
            </a:lvl2pPr>
            <a:lvl3pPr marL="594360" indent="-22860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2000" kern="1200">
                <a:solidFill>
                  <a:schemeClr val="tx1"/>
                </a:solidFill>
                <a:latin typeface="+mn-lt"/>
                <a:ea typeface="+mn-ea"/>
                <a:cs typeface="+mn-cs"/>
              </a:defRPr>
            </a:lvl3pPr>
            <a:lvl4pPr marL="868680" indent="-22860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2000" kern="1200">
                <a:solidFill>
                  <a:schemeClr val="tx1"/>
                </a:solidFill>
                <a:latin typeface="+mn-lt"/>
                <a:ea typeface="+mn-ea"/>
                <a:cs typeface="+mn-cs"/>
              </a:defRPr>
            </a:lvl4pPr>
            <a:lvl5pPr marL="1143000" indent="-22860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fontAlgn="base"/>
            <a:r>
              <a:rPr lang="en-US" sz="1800" b="1">
                <a:latin typeface="Calibri"/>
                <a:ea typeface="Calibri"/>
                <a:cs typeface="Calibri"/>
              </a:rPr>
              <a:t>Mobile Framework:</a:t>
            </a:r>
            <a:r>
              <a:rPr lang="en-US" sz="1800">
                <a:latin typeface="Calibri"/>
                <a:ea typeface="Calibri"/>
                <a:cs typeface="Calibri"/>
              </a:rPr>
              <a:t> Developed for Android/iOS to handle user registration and profile management.</a:t>
            </a:r>
            <a:endParaRPr lang="en-US" altLang="en-US" sz="1800">
              <a:latin typeface="Calibri"/>
              <a:ea typeface="Calibri"/>
              <a:cs typeface="Calibri"/>
            </a:endParaRPr>
          </a:p>
          <a:p>
            <a:pPr fontAlgn="base"/>
            <a:r>
              <a:rPr lang="en-US" sz="1800" b="1">
                <a:latin typeface="Calibri"/>
                <a:ea typeface="Calibri"/>
                <a:cs typeface="Calibri"/>
              </a:rPr>
              <a:t>API/Communication:</a:t>
            </a:r>
            <a:r>
              <a:rPr lang="en-US" sz="1800">
                <a:latin typeface="Calibri"/>
                <a:ea typeface="Calibri"/>
                <a:cs typeface="Calibri"/>
              </a:rPr>
              <a:t> Uses HTTP or </a:t>
            </a:r>
            <a:r>
              <a:rPr lang="en-US" sz="1800" b="1">
                <a:latin typeface="Calibri"/>
                <a:ea typeface="Calibri"/>
                <a:cs typeface="Calibri"/>
              </a:rPr>
              <a:t>MQTT</a:t>
            </a:r>
            <a:r>
              <a:rPr lang="en-US" sz="1800">
                <a:latin typeface="Calibri"/>
                <a:ea typeface="Calibri"/>
                <a:cs typeface="Calibri"/>
              </a:rPr>
              <a:t> for real-time communication between the phone and the transmitter for the drawer lock.</a:t>
            </a:r>
          </a:p>
          <a:p>
            <a:pPr lvl="0" fontAlgn="base"/>
            <a:r>
              <a:rPr lang="en-US" sz="1800" b="1">
                <a:latin typeface="Calibri"/>
                <a:ea typeface="Calibri"/>
                <a:cs typeface="Calibri"/>
              </a:rPr>
              <a:t>Facial Database:</a:t>
            </a:r>
            <a:r>
              <a:rPr lang="en-US" sz="1800">
                <a:latin typeface="Calibri"/>
                <a:ea typeface="Calibri"/>
                <a:cs typeface="Calibri"/>
              </a:rPr>
              <a:t> Enrolled face templates (feature vectors) are captured via the app and synced to the ESP32’s </a:t>
            </a:r>
            <a:r>
              <a:rPr lang="en-US" sz="1800" b="1">
                <a:latin typeface="Calibri"/>
                <a:ea typeface="Calibri"/>
                <a:cs typeface="Calibri"/>
              </a:rPr>
              <a:t>PSRAM</a:t>
            </a:r>
            <a:r>
              <a:rPr lang="en-US" sz="1800">
                <a:latin typeface="Calibri"/>
                <a:ea typeface="Calibri"/>
                <a:cs typeface="Calibri"/>
              </a:rPr>
              <a:t> for fast matching.</a:t>
            </a:r>
            <a:endParaRPr lang="en-US" altLang="en-US" sz="1800" b="0" i="0" u="none" strike="noStrike" cap="none" normalizeH="0" baseline="0">
              <a:ln>
                <a:noFill/>
              </a:ln>
              <a:effectLst/>
              <a:latin typeface="Calibri"/>
              <a:ea typeface="Calibri"/>
              <a:cs typeface="Calibri"/>
            </a:endParaRPr>
          </a:p>
        </p:txBody>
      </p:sp>
      <p:pic>
        <p:nvPicPr>
          <p:cNvPr id="3" name="Picture 2">
            <a:extLst>
              <a:ext uri="{FF2B5EF4-FFF2-40B4-BE49-F238E27FC236}">
                <a16:creationId xmlns:a16="http://schemas.microsoft.com/office/drawing/2014/main" id="{F7B885E5-E3D6-4395-CB14-886584465D8E}"/>
              </a:ext>
            </a:extLst>
          </p:cNvPr>
          <p:cNvPicPr>
            <a:picLocks noChangeAspect="1"/>
          </p:cNvPicPr>
          <p:nvPr/>
        </p:nvPicPr>
        <p:blipFill>
          <a:blip r:embed="rId2"/>
          <a:srcRect l="9847" r="9858" b="-2"/>
          <a:stretch>
            <a:fillRect/>
          </a:stretch>
        </p:blipFill>
        <p:spPr>
          <a:xfrm>
            <a:off x="7903029" y="1825625"/>
            <a:ext cx="3450771" cy="4297680"/>
          </a:xfrm>
          <a:prstGeom prst="rect">
            <a:avLst/>
          </a:prstGeom>
          <a:noFill/>
        </p:spPr>
      </p:pic>
    </p:spTree>
    <p:extLst>
      <p:ext uri="{BB962C8B-B14F-4D97-AF65-F5344CB8AC3E}">
        <p14:creationId xmlns:p14="http://schemas.microsoft.com/office/powerpoint/2010/main" val="1154930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720969" y="424105"/>
            <a:ext cx="5257800" cy="1451329"/>
          </a:xfrm>
          <a:noFill/>
        </p:spPr>
        <p:txBody>
          <a:bodyPr anchor="b"/>
          <a:lstStyle/>
          <a:p>
            <a:r>
              <a:rPr lang="en-US" sz="3600" b="1">
                <a:latin typeface="Calibri"/>
                <a:ea typeface="Calibri"/>
                <a:cs typeface="Calibri"/>
              </a:rPr>
              <a:t>Initial Problem-Solving Discussion</a:t>
            </a:r>
            <a:endParaRPr lang="en-US" sz="3600">
              <a:latin typeface="Calibri"/>
              <a:ea typeface="Calibri"/>
              <a:cs typeface="Calibri"/>
            </a:endParaRP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723900" y="2332537"/>
            <a:ext cx="11188700" cy="4002247"/>
          </a:xfrm>
          <a:noFill/>
        </p:spPr>
        <p:txBody>
          <a:bodyPr vert="horz" lIns="91440" tIns="45720" rIns="91440" bIns="45720" rtlCol="0" anchor="t">
            <a:normAutofit/>
          </a:bodyPr>
          <a:lstStyle/>
          <a:p>
            <a:pPr fontAlgn="base"/>
            <a:r>
              <a:rPr lang="en-US" b="1">
                <a:latin typeface="Calibri"/>
                <a:ea typeface="Calibri"/>
                <a:cs typeface="Calibri"/>
              </a:rPr>
              <a:t>Lighting Variability:</a:t>
            </a:r>
            <a:r>
              <a:rPr lang="en-US">
                <a:latin typeface="Calibri"/>
                <a:ea typeface="Calibri"/>
                <a:cs typeface="Calibri"/>
              </a:rPr>
              <a:t> Facial recognition often fails in low light. </a:t>
            </a:r>
            <a:r>
              <a:rPr lang="en-US" b="1">
                <a:latin typeface="Calibri"/>
                <a:ea typeface="Calibri"/>
                <a:cs typeface="Calibri"/>
              </a:rPr>
              <a:t>Solution:</a:t>
            </a:r>
            <a:r>
              <a:rPr lang="en-US">
                <a:latin typeface="Calibri"/>
                <a:ea typeface="Calibri"/>
                <a:cs typeface="Calibri"/>
              </a:rPr>
              <a:t> We can integrate a small infrared (IR) LED or a standard white LED that flashes during the detection phase.</a:t>
            </a:r>
          </a:p>
          <a:p>
            <a:pPr fontAlgn="base"/>
            <a:r>
              <a:rPr lang="en-US" b="1">
                <a:latin typeface="Calibri"/>
                <a:ea typeface="Calibri"/>
                <a:cs typeface="Calibri"/>
              </a:rPr>
              <a:t>Power Failures:</a:t>
            </a:r>
            <a:r>
              <a:rPr lang="en-US">
                <a:latin typeface="Calibri"/>
                <a:ea typeface="Calibri"/>
                <a:cs typeface="Calibri"/>
              </a:rPr>
              <a:t> If the 12V supply is cut, the drawer remains locked. </a:t>
            </a:r>
            <a:r>
              <a:rPr lang="en-US" b="1">
                <a:latin typeface="Calibri"/>
                <a:ea typeface="Calibri"/>
                <a:cs typeface="Calibri"/>
              </a:rPr>
              <a:t>Solution:</a:t>
            </a:r>
            <a:r>
              <a:rPr lang="en-US">
                <a:latin typeface="Calibri"/>
                <a:ea typeface="Calibri"/>
                <a:cs typeface="Calibri"/>
              </a:rPr>
              <a:t> We can include a hidden physical override or a backup battery circuit.</a:t>
            </a:r>
          </a:p>
          <a:p>
            <a:pPr fontAlgn="base"/>
            <a:r>
              <a:rPr lang="en-US" b="1">
                <a:latin typeface="Calibri"/>
                <a:ea typeface="Calibri"/>
                <a:cs typeface="Calibri"/>
              </a:rPr>
              <a:t>Latency:</a:t>
            </a:r>
            <a:r>
              <a:rPr lang="en-US">
                <a:latin typeface="Calibri"/>
                <a:ea typeface="Calibri"/>
                <a:cs typeface="Calibri"/>
              </a:rPr>
              <a:t> Raspberry Pi systems can have slow boot times. Using a microcontroller like the ESP32-S3 ensures the system is ready to scan in under a second.</a:t>
            </a:r>
          </a:p>
          <a:p>
            <a:pPr fontAlgn="base"/>
            <a:r>
              <a:rPr lang="en-US" b="1">
                <a:latin typeface="Calibri"/>
                <a:ea typeface="Calibri"/>
                <a:cs typeface="Calibri"/>
              </a:rPr>
              <a:t>Falsification: </a:t>
            </a:r>
            <a:r>
              <a:rPr lang="en-US">
                <a:latin typeface="Calibri"/>
                <a:ea typeface="Calibri"/>
                <a:cs typeface="Calibri"/>
              </a:rPr>
              <a:t>Standard facial recognition can be fooled by a high-resolution photo of the user held up to the camera. </a:t>
            </a:r>
            <a:r>
              <a:rPr lang="en-US" b="1">
                <a:latin typeface="Calibri"/>
                <a:ea typeface="Calibri"/>
                <a:cs typeface="Calibri"/>
              </a:rPr>
              <a:t>Solution</a:t>
            </a:r>
            <a:r>
              <a:rPr lang="en-US">
                <a:latin typeface="Calibri"/>
                <a:ea typeface="Calibri"/>
                <a:cs typeface="Calibri"/>
              </a:rPr>
              <a:t>: Liveness Detection which could be as simple as blinking once.</a:t>
            </a:r>
          </a:p>
        </p:txBody>
      </p:sp>
    </p:spTree>
    <p:extLst>
      <p:ext uri="{BB962C8B-B14F-4D97-AF65-F5344CB8AC3E}">
        <p14:creationId xmlns:p14="http://schemas.microsoft.com/office/powerpoint/2010/main" val="2737241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C857F-0A80-2D18-CB41-473C4EFE3AA2}"/>
              </a:ext>
            </a:extLst>
          </p:cNvPr>
          <p:cNvSpPr>
            <a:spLocks noGrp="1"/>
          </p:cNvSpPr>
          <p:nvPr>
            <p:ph type="title"/>
          </p:nvPr>
        </p:nvSpPr>
        <p:spPr>
          <a:xfrm>
            <a:off x="499533" y="384663"/>
            <a:ext cx="5956626" cy="1325563"/>
          </a:xfrm>
        </p:spPr>
        <p:txBody>
          <a:bodyPr anchor="ctr">
            <a:normAutofit/>
          </a:bodyPr>
          <a:lstStyle/>
          <a:p>
            <a:r>
              <a:rPr lang="en-US" sz="3600" b="1">
                <a:latin typeface="Calibri"/>
                <a:ea typeface="Calibri"/>
                <a:cs typeface="Calibri"/>
              </a:rPr>
              <a:t>Conclusion &amp; Future Scope</a:t>
            </a:r>
          </a:p>
        </p:txBody>
      </p:sp>
      <p:sp>
        <p:nvSpPr>
          <p:cNvPr id="3" name="Content Placeholder 2">
            <a:extLst>
              <a:ext uri="{FF2B5EF4-FFF2-40B4-BE49-F238E27FC236}">
                <a16:creationId xmlns:a16="http://schemas.microsoft.com/office/drawing/2014/main" id="{4ECB70BB-178E-3CA0-AAAE-C8820B390C27}"/>
              </a:ext>
            </a:extLst>
          </p:cNvPr>
          <p:cNvSpPr>
            <a:spLocks noGrp="1"/>
          </p:cNvSpPr>
          <p:nvPr>
            <p:ph sz="half" idx="1"/>
          </p:nvPr>
        </p:nvSpPr>
        <p:spPr>
          <a:xfrm>
            <a:off x="499533" y="1929830"/>
            <a:ext cx="4915163" cy="4297680"/>
          </a:xfrm>
        </p:spPr>
        <p:txBody>
          <a:bodyPr vert="horz" lIns="91440" tIns="45720" rIns="91440" bIns="45720" rtlCol="0" anchor="t">
            <a:normAutofit/>
          </a:bodyPr>
          <a:lstStyle/>
          <a:p>
            <a:r>
              <a:rPr lang="en-US" sz="1800" b="1">
                <a:latin typeface="Calibri"/>
                <a:ea typeface="Calibri"/>
                <a:cs typeface="Calibri"/>
              </a:rPr>
              <a:t>Summary:</a:t>
            </a:r>
            <a:r>
              <a:rPr lang="en-US" sz="1800">
                <a:latin typeface="Calibri"/>
                <a:ea typeface="Calibri"/>
                <a:cs typeface="Calibri"/>
              </a:rPr>
              <a:t> Developed a wire-free, biometric solution for high-security storage.</a:t>
            </a:r>
          </a:p>
          <a:p>
            <a:r>
              <a:rPr lang="en-US" sz="1800" b="1">
                <a:latin typeface="Calibri"/>
                <a:ea typeface="Calibri"/>
                <a:cs typeface="Calibri"/>
              </a:rPr>
              <a:t>Future Scope:</a:t>
            </a:r>
            <a:r>
              <a:rPr lang="en-US" sz="1800">
                <a:latin typeface="Calibri"/>
                <a:ea typeface="Calibri"/>
                <a:cs typeface="Calibri"/>
              </a:rPr>
              <a:t> Expanding the system to include audit logs via IoT to track every successful and failed entry attempt.</a:t>
            </a:r>
            <a:endParaRPr lang="en-US"/>
          </a:p>
          <a:p>
            <a:r>
              <a:rPr lang="en-US" sz="1800" b="1">
                <a:latin typeface="Calibri"/>
                <a:ea typeface="Calibri"/>
                <a:cs typeface="Calibri"/>
              </a:rPr>
              <a:t>Scalability:</a:t>
            </a:r>
            <a:r>
              <a:rPr lang="en-US" sz="1800">
                <a:latin typeface="Calibri"/>
                <a:ea typeface="Calibri"/>
                <a:cs typeface="Calibri"/>
              </a:rPr>
              <a:t> The dual-node architecture allows for multiple drawers to be controlled by one camera unit.</a:t>
            </a:r>
          </a:p>
          <a:p>
            <a:endParaRPr lang="en-US" sz="1800">
              <a:latin typeface="Calibri"/>
              <a:ea typeface="Calibri"/>
              <a:cs typeface="Calibri"/>
            </a:endParaRPr>
          </a:p>
        </p:txBody>
      </p:sp>
      <p:pic>
        <p:nvPicPr>
          <p:cNvPr id="4" name="Picture 3">
            <a:extLst>
              <a:ext uri="{FF2B5EF4-FFF2-40B4-BE49-F238E27FC236}">
                <a16:creationId xmlns:a16="http://schemas.microsoft.com/office/drawing/2014/main" id="{8BF23796-0223-F2CA-F13F-9966C8A4D978}"/>
              </a:ext>
            </a:extLst>
          </p:cNvPr>
          <p:cNvPicPr>
            <a:picLocks noChangeAspect="1"/>
          </p:cNvPicPr>
          <p:nvPr/>
        </p:nvPicPr>
        <p:blipFill>
          <a:blip r:embed="rId2"/>
          <a:stretch>
            <a:fillRect/>
          </a:stretch>
        </p:blipFill>
        <p:spPr>
          <a:xfrm>
            <a:off x="5998102" y="1926747"/>
            <a:ext cx="6195515" cy="3374634"/>
          </a:xfrm>
          <a:prstGeom prst="rect">
            <a:avLst/>
          </a:prstGeom>
          <a:noFill/>
        </p:spPr>
      </p:pic>
    </p:spTree>
    <p:extLst>
      <p:ext uri="{BB962C8B-B14F-4D97-AF65-F5344CB8AC3E}">
        <p14:creationId xmlns:p14="http://schemas.microsoft.com/office/powerpoint/2010/main" val="2319045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383876" y="764502"/>
            <a:ext cx="5315035" cy="5328996"/>
          </a:xfrm>
          <a:noFill/>
        </p:spPr>
        <p:txBody>
          <a:bodyPr/>
          <a:lstStyle/>
          <a:p>
            <a:r>
              <a:rPr lang="en-US"/>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6605455" y="755171"/>
            <a:ext cx="4619937" cy="5315035"/>
          </a:xfrm>
          <a:noFill/>
        </p:spPr>
        <p:txBody>
          <a:bodyPr>
            <a:normAutofit/>
          </a:bodyPr>
          <a:lstStyle/>
          <a:p>
            <a:endParaRPr lang="en-US"/>
          </a:p>
        </p:txBody>
      </p:sp>
    </p:spTree>
    <p:extLst>
      <p:ext uri="{BB962C8B-B14F-4D97-AF65-F5344CB8AC3E}">
        <p14:creationId xmlns:p14="http://schemas.microsoft.com/office/powerpoint/2010/main" val="1562484837"/>
      </p:ext>
    </p:extLst>
  </p:cSld>
  <p:clrMapOvr>
    <a:masterClrMapping/>
  </p:clrMapOvr>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30005B-6102-4F3C-A26F-485DF1BF9717}">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4E60708A-6461-4D7F-883F-7E25D731D326}">
  <ds:schemaRefs>
    <ds:schemaRef ds:uri="http://schemas.microsoft.com/sharepoint/v3/contenttype/forms"/>
  </ds:schemaRefs>
</ds:datastoreItem>
</file>

<file path=customXml/itemProps3.xml><?xml version="1.0" encoding="utf-8"?>
<ds:datastoreItem xmlns:ds="http://schemas.openxmlformats.org/officeDocument/2006/customXml" ds:itemID="{2BC90B52-91C7-4BE9-8AE0-180FFFE1100A}">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{2F8B2A83-83FB-4831-8548-DB6F9C69AC85}TFab1f0ecd-b87c-476f-be30-2c815ce1b1f82585027f_win32-74124434413c</Template>
  <Application>Microsoft Office PowerPoint</Application>
  <PresentationFormat>Widescreen</PresentationFormat>
  <Slides>13</Slides>
  <Notes>8</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Custom</vt:lpstr>
      <vt:lpstr>Facial Recognition Drawer</vt:lpstr>
      <vt:lpstr>Table Of Contents</vt:lpstr>
      <vt:lpstr>Project Objective</vt:lpstr>
      <vt:lpstr>     Technical Viability: ESP32-S3 microcontrollers perform on-device facial detection at "the edge" for instant response. Performance Comparison: Unlike the Raspberry Pi, the ESP32-S3 is optimized for battery-operated furniture due to its low power consumption. Mechanical Integration: Standard 12V solenoid locks offer a secure, "fail-secure" barrier easily fitted to wooden frames.    </vt:lpstr>
      <vt:lpstr>Background Research</vt:lpstr>
      <vt:lpstr>PowerPoint Presentation</vt:lpstr>
      <vt:lpstr>Wireless Protocol: ESP-NOW</vt:lpstr>
      <vt:lpstr>Hardware Cost Breakdown</vt:lpstr>
      <vt:lpstr>Logic Flow</vt:lpstr>
      <vt:lpstr>Face ID Enrollment</vt:lpstr>
      <vt:lpstr>Initial Problem-Solving Discussion</vt:lpstr>
      <vt:lpstr>Conclusion &amp; 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Emerald Pyma</dc:creator>
  <cp:revision>12</cp:revision>
  <dcterms:created xsi:type="dcterms:W3CDTF">2026-01-25T14:05:13Z</dcterms:created>
  <dcterms:modified xsi:type="dcterms:W3CDTF">2026-01-29T00:35:28Z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